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Etna Sans Serif" charset="1" panose="02000600000000000000"/>
      <p:regular r:id="rId16"/>
    </p:embeddedFont>
    <p:embeddedFont>
      <p:font typeface="Rotis Sans Serif" charset="1" panose="020B0503030202020304"/>
      <p:regular r:id="rId17"/>
    </p:embeddedFont>
    <p:embeddedFont>
      <p:font typeface="Atkinson Hyperlegible" charset="1" panose="00000000000000000000"/>
      <p:regular r:id="rId18"/>
    </p:embeddedFont>
    <p:embeddedFont>
      <p:font typeface="Inter Semi-Bold" charset="1" panose="02000503000000020004"/>
      <p:regular r:id="rId19"/>
    </p:embeddedFont>
    <p:embeddedFont>
      <p:font typeface="Inter" charset="1" panose="020B0502030000000004"/>
      <p:regular r:id="rId20"/>
    </p:embeddedFont>
    <p:embeddedFont>
      <p:font typeface="Inter Bold" charset="1" panose="020B0802030000000004"/>
      <p:regular r:id="rId21"/>
    </p:embeddedFont>
    <p:embeddedFont>
      <p:font typeface="Inter Italics" charset="1" panose="020B0502030000000004"/>
      <p:regular r:id="rId22"/>
    </p:embeddedFont>
    <p:embeddedFont>
      <p:font typeface="Inter Medium" charset="1" panose="02000503000000020004"/>
      <p:regular r:id="rId23"/>
    </p:embeddedFont>
    <p:embeddedFont>
      <p:font typeface="Inter Bold Italics" charset="1" panose="020B0802030000000004"/>
      <p:regular r:id="rId24"/>
    </p:embeddedFont>
    <p:embeddedFont>
      <p:font typeface="Inter Light" charset="1" panose="020005030000000200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png" Type="http://schemas.openxmlformats.org/officeDocument/2006/relationships/image"/><Relationship Id="rId12" Target="../media/image12.png" Type="http://schemas.openxmlformats.org/officeDocument/2006/relationships/image"/><Relationship Id="rId13" Target="../media/image13.png" Type="http://schemas.openxmlformats.org/officeDocument/2006/relationships/image"/><Relationship Id="rId14" Target="../media/image14.png" Type="http://schemas.openxmlformats.org/officeDocument/2006/relationships/image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13" Target="../media/image26.png" Type="http://schemas.openxmlformats.org/officeDocument/2006/relationships/image"/><Relationship Id="rId14" Target="../media/image27.png" Type="http://schemas.openxmlformats.org/officeDocument/2006/relationships/image"/><Relationship Id="rId15" Target="../media/image28.png" Type="http://schemas.openxmlformats.org/officeDocument/2006/relationships/image"/><Relationship Id="rId16" Target="../media/image29.png" Type="http://schemas.openxmlformats.org/officeDocument/2006/relationships/image"/><Relationship Id="rId17" Target="../media/image30.png" Type="http://schemas.openxmlformats.org/officeDocument/2006/relationships/image"/><Relationship Id="rId18" Target="../media/image31.png" Type="http://schemas.openxmlformats.org/officeDocument/2006/relationships/image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png" Type="http://schemas.openxmlformats.org/officeDocument/2006/relationships/image"/><Relationship Id="rId12" Target="../media/image42.png" Type="http://schemas.openxmlformats.org/officeDocument/2006/relationships/image"/><Relationship Id="rId13" Target="../media/image43.png" Type="http://schemas.openxmlformats.org/officeDocument/2006/relationships/image"/><Relationship Id="rId14" Target="../media/image44.png" Type="http://schemas.openxmlformats.org/officeDocument/2006/relationships/image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png" Type="http://schemas.openxmlformats.org/officeDocument/2006/relationships/image"/><Relationship Id="rId12" Target="../media/image55.png" Type="http://schemas.openxmlformats.org/officeDocument/2006/relationships/image"/><Relationship Id="rId13" Target="../media/image56.png" Type="http://schemas.openxmlformats.org/officeDocument/2006/relationships/image"/><Relationship Id="rId14" Target="../media/image57.png" Type="http://schemas.openxmlformats.org/officeDocument/2006/relationships/image"/><Relationship Id="rId15" Target="../media/image58.png" Type="http://schemas.openxmlformats.org/officeDocument/2006/relationships/image"/><Relationship Id="rId16" Target="../media/image59.png" Type="http://schemas.openxmlformats.org/officeDocument/2006/relationships/image"/><Relationship Id="rId17" Target="../media/image60.png" Type="http://schemas.openxmlformats.org/officeDocument/2006/relationships/image"/><Relationship Id="rId18" Target="../media/image61.png" Type="http://schemas.openxmlformats.org/officeDocument/2006/relationships/image"/><Relationship Id="rId19" Target="../media/image62.png" Type="http://schemas.openxmlformats.org/officeDocument/2006/relationships/image"/><Relationship Id="rId2" Target="../media/image45.png" Type="http://schemas.openxmlformats.org/officeDocument/2006/relationships/image"/><Relationship Id="rId20" Target="../media/image63.png" Type="http://schemas.openxmlformats.org/officeDocument/2006/relationships/image"/><Relationship Id="rId21" Target="../media/image64.pn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Relationship Id="rId3" Target="../media/image66.png" Type="http://schemas.openxmlformats.org/officeDocument/2006/relationships/image"/><Relationship Id="rId4" Target="../media/image67.png" Type="http://schemas.openxmlformats.org/officeDocument/2006/relationships/image"/><Relationship Id="rId5" Target="../media/image68.png" Type="http://schemas.openxmlformats.org/officeDocument/2006/relationships/image"/><Relationship Id="rId6" Target="../media/image69.png" Type="http://schemas.openxmlformats.org/officeDocument/2006/relationships/image"/><Relationship Id="rId7" Target="../media/image70.png" Type="http://schemas.openxmlformats.org/officeDocument/2006/relationships/image"/><Relationship Id="rId8" Target="../media/image7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0.png" Type="http://schemas.openxmlformats.org/officeDocument/2006/relationships/image"/><Relationship Id="rId11" Target="../media/image81.png" Type="http://schemas.openxmlformats.org/officeDocument/2006/relationships/image"/><Relationship Id="rId12" Target="../media/image82.png" Type="http://schemas.openxmlformats.org/officeDocument/2006/relationships/image"/><Relationship Id="rId13" Target="../media/image83.png" Type="http://schemas.openxmlformats.org/officeDocument/2006/relationships/image"/><Relationship Id="rId14" Target="../media/image84.png" Type="http://schemas.openxmlformats.org/officeDocument/2006/relationships/image"/><Relationship Id="rId2" Target="../media/image72.png" Type="http://schemas.openxmlformats.org/officeDocument/2006/relationships/image"/><Relationship Id="rId3" Target="../media/image73.png" Type="http://schemas.openxmlformats.org/officeDocument/2006/relationships/image"/><Relationship Id="rId4" Target="../media/image74.png" Type="http://schemas.openxmlformats.org/officeDocument/2006/relationships/image"/><Relationship Id="rId5" Target="../media/image75.png" Type="http://schemas.openxmlformats.org/officeDocument/2006/relationships/image"/><Relationship Id="rId6" Target="../media/image76.png" Type="http://schemas.openxmlformats.org/officeDocument/2006/relationships/image"/><Relationship Id="rId7" Target="../media/image77.png" Type="http://schemas.openxmlformats.org/officeDocument/2006/relationships/image"/><Relationship Id="rId8" Target="../media/image78.png" Type="http://schemas.openxmlformats.org/officeDocument/2006/relationships/image"/><Relationship Id="rId9" Target="../media/image7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png" Type="http://schemas.openxmlformats.org/officeDocument/2006/relationships/image"/><Relationship Id="rId11" Target="../media/image94.png" Type="http://schemas.openxmlformats.org/officeDocument/2006/relationships/image"/><Relationship Id="rId12" Target="../media/image95.png" Type="http://schemas.openxmlformats.org/officeDocument/2006/relationships/image"/><Relationship Id="rId13" Target="../media/image96.png" Type="http://schemas.openxmlformats.org/officeDocument/2006/relationships/image"/><Relationship Id="rId2" Target="../media/image85.png" Type="http://schemas.openxmlformats.org/officeDocument/2006/relationships/image"/><Relationship Id="rId3" Target="../media/image86.png" Type="http://schemas.openxmlformats.org/officeDocument/2006/relationships/image"/><Relationship Id="rId4" Target="../media/image87.png" Type="http://schemas.openxmlformats.org/officeDocument/2006/relationships/image"/><Relationship Id="rId5" Target="../media/image88.png" Type="http://schemas.openxmlformats.org/officeDocument/2006/relationships/image"/><Relationship Id="rId6" Target="../media/image89.png" Type="http://schemas.openxmlformats.org/officeDocument/2006/relationships/image"/><Relationship Id="rId7" Target="../media/image90.png" Type="http://schemas.openxmlformats.org/officeDocument/2006/relationships/image"/><Relationship Id="rId8" Target="../media/image91.png" Type="http://schemas.openxmlformats.org/officeDocument/2006/relationships/image"/><Relationship Id="rId9" Target="../media/image9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5.png" Type="http://schemas.openxmlformats.org/officeDocument/2006/relationships/image"/><Relationship Id="rId11" Target="../media/image106.png" Type="http://schemas.openxmlformats.org/officeDocument/2006/relationships/image"/><Relationship Id="rId12" Target="../media/image107.png" Type="http://schemas.openxmlformats.org/officeDocument/2006/relationships/image"/><Relationship Id="rId13" Target="../media/image108.png" Type="http://schemas.openxmlformats.org/officeDocument/2006/relationships/image"/><Relationship Id="rId14" Target="../media/image109.png" Type="http://schemas.openxmlformats.org/officeDocument/2006/relationships/image"/><Relationship Id="rId15" Target="../media/image110.png" Type="http://schemas.openxmlformats.org/officeDocument/2006/relationships/image"/><Relationship Id="rId2" Target="../media/image97.png" Type="http://schemas.openxmlformats.org/officeDocument/2006/relationships/image"/><Relationship Id="rId3" Target="../media/image98.png" Type="http://schemas.openxmlformats.org/officeDocument/2006/relationships/image"/><Relationship Id="rId4" Target="../media/image99.png" Type="http://schemas.openxmlformats.org/officeDocument/2006/relationships/image"/><Relationship Id="rId5" Target="../media/image100.png" Type="http://schemas.openxmlformats.org/officeDocument/2006/relationships/image"/><Relationship Id="rId6" Target="../media/image101.png" Type="http://schemas.openxmlformats.org/officeDocument/2006/relationships/image"/><Relationship Id="rId7" Target="../media/image102.png" Type="http://schemas.openxmlformats.org/officeDocument/2006/relationships/image"/><Relationship Id="rId8" Target="../media/image103.png" Type="http://schemas.openxmlformats.org/officeDocument/2006/relationships/image"/><Relationship Id="rId9" Target="../media/image10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9.png" Type="http://schemas.openxmlformats.org/officeDocument/2006/relationships/image"/><Relationship Id="rId2" Target="../media/image111.png" Type="http://schemas.openxmlformats.org/officeDocument/2006/relationships/image"/><Relationship Id="rId3" Target="../media/image112.png" Type="http://schemas.openxmlformats.org/officeDocument/2006/relationships/image"/><Relationship Id="rId4" Target="../media/image113.png" Type="http://schemas.openxmlformats.org/officeDocument/2006/relationships/image"/><Relationship Id="rId5" Target="../media/image114.png" Type="http://schemas.openxmlformats.org/officeDocument/2006/relationships/image"/><Relationship Id="rId6" Target="../media/image115.png" Type="http://schemas.openxmlformats.org/officeDocument/2006/relationships/image"/><Relationship Id="rId7" Target="../media/image116.png" Type="http://schemas.openxmlformats.org/officeDocument/2006/relationships/image"/><Relationship Id="rId8" Target="../media/image117.png" Type="http://schemas.openxmlformats.org/officeDocument/2006/relationships/image"/><Relationship Id="rId9" Target="../media/image1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771650"/>
            <a:ext cx="18288000" cy="8515350"/>
          </a:xfrm>
          <a:custGeom>
            <a:avLst/>
            <a:gdLst/>
            <a:ahLst/>
            <a:cxnLst/>
            <a:rect r="r" b="b" t="t" l="l"/>
            <a:pathLst>
              <a:path h="8515350" w="18288000">
                <a:moveTo>
                  <a:pt x="0" y="0"/>
                </a:moveTo>
                <a:lnTo>
                  <a:pt x="18288000" y="0"/>
                </a:lnTo>
                <a:lnTo>
                  <a:pt x="18288000" y="8515350"/>
                </a:lnTo>
                <a:lnTo>
                  <a:pt x="0" y="851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08748" y="-245049"/>
            <a:ext cx="4921448" cy="241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36"/>
              </a:lnSpc>
            </a:pPr>
            <a:r>
              <a:rPr lang="en-US" sz="6954" spc="-13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CampusLens</a:t>
            </a:r>
          </a:p>
          <a:p>
            <a:pPr algn="ctr">
              <a:lnSpc>
                <a:spcPts val="9736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744802" y="933450"/>
            <a:ext cx="2693789" cy="838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  <a:spcBef>
                <a:spcPct val="0"/>
              </a:spcBef>
            </a:pPr>
            <a:r>
              <a:rPr lang="en-US" sz="2254" spc="-45">
                <a:solidFill>
                  <a:srgbClr val="3B665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Your campus, made clear.</a:t>
            </a:r>
          </a:p>
          <a:p>
            <a:pPr algn="ctr">
              <a:lnSpc>
                <a:spcPts val="3156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771130" y="110150"/>
            <a:ext cx="5597748" cy="219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6"/>
              </a:lnSpc>
              <a:spcBef>
                <a:spcPct val="0"/>
              </a:spcBef>
            </a:pPr>
            <a:r>
              <a:rPr lang="en-US" sz="3154" spc="-63">
                <a:solidFill>
                  <a:srgbClr val="5D725C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AI-p</a:t>
            </a:r>
            <a:r>
              <a:rPr lang="en-US" sz="3154" spc="-63">
                <a:solidFill>
                  <a:srgbClr val="5D725C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owered campus productivity assistant</a:t>
            </a:r>
          </a:p>
          <a:p>
            <a:pPr algn="ctr">
              <a:lnSpc>
                <a:spcPts val="4416"/>
              </a:lnSpc>
              <a:spcBef>
                <a:spcPct val="0"/>
              </a:spcBef>
            </a:pPr>
            <a:r>
              <a:rPr lang="en-US" sz="3154" spc="-63">
                <a:solidFill>
                  <a:srgbClr val="5D725C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 Built with Gemma 4</a:t>
            </a:r>
          </a:p>
          <a:p>
            <a:pPr algn="ctr">
              <a:lnSpc>
                <a:spcPts val="44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968804" cy="10287000"/>
          </a:xfrm>
          <a:custGeom>
            <a:avLst/>
            <a:gdLst/>
            <a:ahLst/>
            <a:cxnLst/>
            <a:rect r="r" b="b" t="t" l="l"/>
            <a:pathLst>
              <a:path h="10287000" w="1968804">
                <a:moveTo>
                  <a:pt x="0" y="0"/>
                </a:moveTo>
                <a:lnTo>
                  <a:pt x="1968804" y="0"/>
                </a:lnTo>
                <a:lnTo>
                  <a:pt x="196880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66267" y="1009199"/>
            <a:ext cx="8585038" cy="275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29"/>
              </a:lnSpc>
            </a:pPr>
            <a:r>
              <a:rPr lang="en-US" sz="6574" spc="-131" b="true">
                <a:solidFill>
                  <a:srgbClr val="213B2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Important information shouldn’t get </a:t>
            </a:r>
            <a:r>
              <a:rPr lang="en-US" sz="6574" spc="-131" b="true">
                <a:solidFill>
                  <a:srgbClr val="97B28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lost</a:t>
            </a:r>
            <a:r>
              <a:rPr lang="en-US" sz="6574" spc="-131" b="true">
                <a:solidFill>
                  <a:srgbClr val="213B2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in campus </a:t>
            </a:r>
            <a:r>
              <a:rPr lang="en-US" sz="6574" spc="-131" b="true">
                <a:solidFill>
                  <a:srgbClr val="3B665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notices.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603196" y="4919394"/>
            <a:ext cx="4156364" cy="3869923"/>
          </a:xfrm>
          <a:custGeom>
            <a:avLst/>
            <a:gdLst/>
            <a:ahLst/>
            <a:cxnLst/>
            <a:rect r="r" b="b" t="t" l="l"/>
            <a:pathLst>
              <a:path h="3869923" w="4156364">
                <a:moveTo>
                  <a:pt x="0" y="0"/>
                </a:moveTo>
                <a:lnTo>
                  <a:pt x="4156364" y="0"/>
                </a:lnTo>
                <a:lnTo>
                  <a:pt x="4156364" y="3869924"/>
                </a:lnTo>
                <a:lnTo>
                  <a:pt x="0" y="38699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696976" y="4285339"/>
            <a:ext cx="1750048" cy="1716322"/>
          </a:xfrm>
          <a:custGeom>
            <a:avLst/>
            <a:gdLst/>
            <a:ahLst/>
            <a:cxnLst/>
            <a:rect r="r" b="b" t="t" l="l"/>
            <a:pathLst>
              <a:path h="1716322" w="1750048">
                <a:moveTo>
                  <a:pt x="0" y="0"/>
                </a:moveTo>
                <a:lnTo>
                  <a:pt x="1750048" y="0"/>
                </a:lnTo>
                <a:lnTo>
                  <a:pt x="1750048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134488" y="4711687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44817" y="6347678"/>
            <a:ext cx="2640997" cy="390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4"/>
              </a:lnSpc>
            </a:pPr>
            <a:r>
              <a:rPr lang="en-US" b="true" sz="2759" spc="-55">
                <a:solidFill>
                  <a:srgbClr val="213B2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Notice overload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93219" y="6857331"/>
            <a:ext cx="3616523" cy="1168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sz="2254" spc="-45">
                <a:solidFill>
                  <a:srgbClr val="213B2B">
                    <a:alpha val="6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important deadlines and actions buried in long</a:t>
            </a:r>
          </a:p>
          <a:p>
            <a:pPr algn="ctr">
              <a:lnSpc>
                <a:spcPts val="3156"/>
              </a:lnSpc>
            </a:pPr>
            <a:r>
              <a:rPr lang="en-US" sz="2254" spc="-45">
                <a:solidFill>
                  <a:srgbClr val="213B2B">
                    <a:alpha val="6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notices and emails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748622" y="6428009"/>
            <a:ext cx="875024" cy="644987"/>
          </a:xfrm>
          <a:custGeom>
            <a:avLst/>
            <a:gdLst/>
            <a:ahLst/>
            <a:cxnLst/>
            <a:rect r="r" b="b" t="t" l="l"/>
            <a:pathLst>
              <a:path h="644987" w="875024">
                <a:moveTo>
                  <a:pt x="0" y="0"/>
                </a:moveTo>
                <a:lnTo>
                  <a:pt x="875024" y="0"/>
                </a:lnTo>
                <a:lnTo>
                  <a:pt x="87502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612708" y="4919394"/>
            <a:ext cx="4801694" cy="3869923"/>
          </a:xfrm>
          <a:custGeom>
            <a:avLst/>
            <a:gdLst/>
            <a:ahLst/>
            <a:cxnLst/>
            <a:rect r="r" b="b" t="t" l="l"/>
            <a:pathLst>
              <a:path h="3869923" w="4801694">
                <a:moveTo>
                  <a:pt x="0" y="0"/>
                </a:moveTo>
                <a:lnTo>
                  <a:pt x="4801694" y="0"/>
                </a:lnTo>
                <a:lnTo>
                  <a:pt x="4801694" y="3869924"/>
                </a:lnTo>
                <a:lnTo>
                  <a:pt x="0" y="38699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144000" y="4285339"/>
            <a:ext cx="1750048" cy="1716322"/>
          </a:xfrm>
          <a:custGeom>
            <a:avLst/>
            <a:gdLst/>
            <a:ahLst/>
            <a:cxnLst/>
            <a:rect r="r" b="b" t="t" l="l"/>
            <a:pathLst>
              <a:path h="1716322" w="1750048">
                <a:moveTo>
                  <a:pt x="0" y="0"/>
                </a:moveTo>
                <a:lnTo>
                  <a:pt x="1750048" y="0"/>
                </a:lnTo>
                <a:lnTo>
                  <a:pt x="1750048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351818" y="4711687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797391" y="6347678"/>
            <a:ext cx="2397896" cy="390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4"/>
              </a:lnSpc>
            </a:pPr>
            <a:r>
              <a:rPr lang="en-US" b="true" sz="2759" spc="-55">
                <a:solidFill>
                  <a:srgbClr val="213B2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Missed details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24242" y="6857331"/>
            <a:ext cx="3616523" cy="1168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sz="2254" spc="-45">
                <a:solidFill>
                  <a:srgbClr val="213B2B"/>
                </a:solidFill>
                <a:latin typeface="Inter"/>
                <a:ea typeface="Inter"/>
                <a:cs typeface="Inter"/>
                <a:sym typeface="Inter"/>
              </a:rPr>
              <a:t>students manually</a:t>
            </a:r>
          </a:p>
          <a:p>
            <a:pPr algn="ctr">
              <a:lnSpc>
                <a:spcPts val="3156"/>
              </a:lnSpc>
            </a:pPr>
            <a:r>
              <a:rPr lang="en-US" sz="2254" spc="-45">
                <a:solidFill>
                  <a:srgbClr val="213B2B"/>
                </a:solidFill>
                <a:latin typeface="Inter"/>
                <a:ea typeface="Inter"/>
                <a:cs typeface="Inter"/>
                <a:sym typeface="Inter"/>
              </a:rPr>
              <a:t>identify what matters,</a:t>
            </a:r>
          </a:p>
          <a:p>
            <a:pPr algn="ctr">
              <a:lnSpc>
                <a:spcPts val="3156"/>
              </a:lnSpc>
            </a:pPr>
            <a:r>
              <a:rPr lang="en-US" sz="2254" spc="-45">
                <a:solidFill>
                  <a:srgbClr val="213B2B"/>
                </a:solidFill>
                <a:latin typeface="Inter"/>
                <a:ea typeface="Inter"/>
                <a:cs typeface="Inter"/>
                <a:sym typeface="Inter"/>
              </a:rPr>
              <a:t>risking oversight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184708" y="6428009"/>
            <a:ext cx="1104718" cy="644987"/>
          </a:xfrm>
          <a:custGeom>
            <a:avLst/>
            <a:gdLst/>
            <a:ahLst/>
            <a:cxnLst/>
            <a:rect r="r" b="b" t="t" l="l"/>
            <a:pathLst>
              <a:path h="644987" w="1104718">
                <a:moveTo>
                  <a:pt x="0" y="0"/>
                </a:moveTo>
                <a:lnTo>
                  <a:pt x="1104718" y="0"/>
                </a:lnTo>
                <a:lnTo>
                  <a:pt x="110471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059732" y="4919394"/>
            <a:ext cx="4582938" cy="3869923"/>
          </a:xfrm>
          <a:custGeom>
            <a:avLst/>
            <a:gdLst/>
            <a:ahLst/>
            <a:cxnLst/>
            <a:rect r="r" b="b" t="t" l="l"/>
            <a:pathLst>
              <a:path h="3869923" w="4582938">
                <a:moveTo>
                  <a:pt x="0" y="0"/>
                </a:moveTo>
                <a:lnTo>
                  <a:pt x="4582938" y="0"/>
                </a:lnTo>
                <a:lnTo>
                  <a:pt x="4582938" y="3869924"/>
                </a:lnTo>
                <a:lnTo>
                  <a:pt x="0" y="38699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580086" y="4285339"/>
            <a:ext cx="1750048" cy="1716322"/>
          </a:xfrm>
          <a:custGeom>
            <a:avLst/>
            <a:gdLst/>
            <a:ahLst/>
            <a:cxnLst/>
            <a:rect r="r" b="b" t="t" l="l"/>
            <a:pathLst>
              <a:path h="1716322" w="1750048">
                <a:moveTo>
                  <a:pt x="0" y="0"/>
                </a:moveTo>
                <a:lnTo>
                  <a:pt x="1750048" y="0"/>
                </a:lnTo>
                <a:lnTo>
                  <a:pt x="1750048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798842" y="4711687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4074323" y="6347678"/>
            <a:ext cx="2613234" cy="390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4"/>
              </a:lnSpc>
            </a:pPr>
            <a:r>
              <a:rPr lang="en-US" b="true" sz="2759" spc="-55">
                <a:solidFill>
                  <a:srgbClr val="213B2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Scattered tasks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608844" y="6857331"/>
            <a:ext cx="3616523" cy="1168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sz="2254" spc="-45">
                <a:solidFill>
                  <a:srgbClr val="213B2B"/>
                </a:solidFill>
                <a:latin typeface="Inter"/>
                <a:ea typeface="Inter"/>
                <a:cs typeface="Inter"/>
                <a:sym typeface="Inter"/>
              </a:rPr>
              <a:t>saved info and follow-ups become disconnected</a:t>
            </a:r>
          </a:p>
          <a:p>
            <a:pPr algn="ctr">
              <a:lnSpc>
                <a:spcPts val="3156"/>
              </a:lnSpc>
            </a:pPr>
            <a:r>
              <a:rPr lang="en-US" sz="2254" spc="-45">
                <a:solidFill>
                  <a:srgbClr val="213B2B"/>
                </a:solidFill>
                <a:latin typeface="Inter"/>
                <a:ea typeface="Inter"/>
                <a:cs typeface="Inter"/>
                <a:sym typeface="Inter"/>
              </a:rPr>
              <a:t>and hard to track</a:t>
            </a:r>
          </a:p>
        </p:txBody>
      </p:sp>
      <p:sp>
        <p:nvSpPr>
          <p:cNvPr name="TextBox 22" id="22"/>
          <p:cNvSpPr txBox="true"/>
          <p:nvPr/>
        </p:nvSpPr>
        <p:spPr>
          <a:xfrm rot="-5400000">
            <a:off x="-810666" y="6663811"/>
            <a:ext cx="3002777" cy="52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4"/>
              </a:lnSpc>
            </a:pPr>
            <a:r>
              <a:rPr lang="en-US" b="true" sz="3805" spc="-76">
                <a:solidFill>
                  <a:srgbClr val="F6F4F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CampusLens</a:t>
            </a:r>
          </a:p>
        </p:txBody>
      </p:sp>
      <p:sp>
        <p:nvSpPr>
          <p:cNvPr name="TextBox 23" id="23"/>
          <p:cNvSpPr txBox="true"/>
          <p:nvPr/>
        </p:nvSpPr>
        <p:spPr>
          <a:xfrm rot="-5400000">
            <a:off x="-1778771" y="5253470"/>
            <a:ext cx="6112901" cy="23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1"/>
              </a:lnSpc>
            </a:pPr>
            <a:r>
              <a:rPr lang="en-US" sz="1784" spc="88">
                <a:solidFill>
                  <a:srgbClr val="97B289"/>
                </a:solidFill>
                <a:latin typeface="Inter"/>
                <a:ea typeface="Inter"/>
                <a:cs typeface="Inter"/>
                <a:sym typeface="Inter"/>
              </a:rPr>
              <a:t>AI-POWERED CAMPUS PRODUCTIVITY ASSISTANT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968804" cy="10287000"/>
          </a:xfrm>
          <a:custGeom>
            <a:avLst/>
            <a:gdLst/>
            <a:ahLst/>
            <a:cxnLst/>
            <a:rect r="r" b="b" t="t" l="l"/>
            <a:pathLst>
              <a:path h="10287000" w="1968804">
                <a:moveTo>
                  <a:pt x="0" y="0"/>
                </a:moveTo>
                <a:lnTo>
                  <a:pt x="1968804" y="0"/>
                </a:lnTo>
                <a:lnTo>
                  <a:pt x="196880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57204" y="966230"/>
            <a:ext cx="6812439" cy="275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4"/>
              </a:lnSpc>
            </a:pPr>
            <a:r>
              <a:rPr lang="en-US" sz="6938" spc="-138" b="true">
                <a:solidFill>
                  <a:srgbClr val="2042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From campus notices to</a:t>
            </a:r>
          </a:p>
          <a:p>
            <a:pPr algn="l">
              <a:lnSpc>
                <a:spcPts val="7284"/>
              </a:lnSpc>
            </a:pPr>
            <a:r>
              <a:rPr lang="en-US" sz="6938" spc="-138" b="true">
                <a:solidFill>
                  <a:srgbClr val="9BB28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clear</a:t>
            </a:r>
            <a:r>
              <a:rPr lang="en-US" sz="6938" spc="-138" b="true">
                <a:solidFill>
                  <a:srgbClr val="2042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next steps.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176622" y="4919394"/>
            <a:ext cx="2832890" cy="3443576"/>
          </a:xfrm>
          <a:custGeom>
            <a:avLst/>
            <a:gdLst/>
            <a:ahLst/>
            <a:cxnLst/>
            <a:rect r="r" b="b" t="t" l="l"/>
            <a:pathLst>
              <a:path h="3443576" w="2832890">
                <a:moveTo>
                  <a:pt x="0" y="0"/>
                </a:moveTo>
                <a:lnTo>
                  <a:pt x="2832890" y="0"/>
                </a:lnTo>
                <a:lnTo>
                  <a:pt x="2832890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21952" y="4493047"/>
            <a:ext cx="1542230" cy="1300906"/>
          </a:xfrm>
          <a:custGeom>
            <a:avLst/>
            <a:gdLst/>
            <a:ahLst/>
            <a:cxnLst/>
            <a:rect r="r" b="b" t="t" l="l"/>
            <a:pathLst>
              <a:path h="1300906" w="1542230">
                <a:moveTo>
                  <a:pt x="0" y="0"/>
                </a:moveTo>
                <a:lnTo>
                  <a:pt x="1542230" y="0"/>
                </a:lnTo>
                <a:lnTo>
                  <a:pt x="154223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11667" y="6148530"/>
            <a:ext cx="1770066" cy="341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7"/>
              </a:lnSpc>
            </a:pPr>
            <a:r>
              <a:rPr lang="en-US" b="true" sz="1898" spc="-38">
                <a:solidFill>
                  <a:srgbClr val="2042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Upload notice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71581" y="6796927"/>
            <a:ext cx="1650238" cy="90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5"/>
              </a:lnSpc>
            </a:pPr>
            <a:r>
              <a:rPr lang="en-US" sz="1617" spc="-32">
                <a:solidFill>
                  <a:srgbClr val="40604F"/>
                </a:solidFill>
                <a:latin typeface="Inter"/>
                <a:ea typeface="Inter"/>
                <a:cs typeface="Inter"/>
                <a:sym typeface="Inter"/>
              </a:rPr>
              <a:t>add any campus notice or email in seconds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779818" y="6209369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36086" y="4919394"/>
            <a:ext cx="2843828" cy="3443576"/>
          </a:xfrm>
          <a:custGeom>
            <a:avLst/>
            <a:gdLst/>
            <a:ahLst/>
            <a:cxnLst/>
            <a:rect r="r" b="b" t="t" l="l"/>
            <a:pathLst>
              <a:path h="3443576" w="2843828">
                <a:moveTo>
                  <a:pt x="0" y="0"/>
                </a:moveTo>
                <a:lnTo>
                  <a:pt x="2843828" y="0"/>
                </a:lnTo>
                <a:lnTo>
                  <a:pt x="2843828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092354" y="4493047"/>
            <a:ext cx="1531292" cy="1300906"/>
          </a:xfrm>
          <a:custGeom>
            <a:avLst/>
            <a:gdLst/>
            <a:ahLst/>
            <a:cxnLst/>
            <a:rect r="r" b="b" t="t" l="l"/>
            <a:pathLst>
              <a:path h="1300906" w="1531292">
                <a:moveTo>
                  <a:pt x="0" y="0"/>
                </a:moveTo>
                <a:lnTo>
                  <a:pt x="1531292" y="0"/>
                </a:lnTo>
                <a:lnTo>
                  <a:pt x="153129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629731" y="6159371"/>
            <a:ext cx="2329559" cy="62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b="true" sz="1678" spc="-33">
                <a:solidFill>
                  <a:srgbClr val="2042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Gemma 4 analysis</a:t>
            </a:r>
          </a:p>
          <a:p>
            <a:pPr algn="ctr">
              <a:lnSpc>
                <a:spcPts val="2518"/>
              </a:lnSpc>
            </a:pPr>
            <a:r>
              <a:rPr lang="en-US" b="true" sz="1678" spc="-33">
                <a:solidFill>
                  <a:srgbClr val="2042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(gemma-4-26b-a4b-it)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84736" y="7098144"/>
            <a:ext cx="1820620" cy="90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5"/>
              </a:lnSpc>
            </a:pPr>
            <a:r>
              <a:rPr lang="en-US" sz="1617" spc="-32">
                <a:solidFill>
                  <a:srgbClr val="40604F"/>
                </a:solidFill>
                <a:latin typeface="Inter"/>
                <a:ea typeface="Inter"/>
                <a:cs typeface="Inter"/>
                <a:sym typeface="Inter"/>
              </a:rPr>
              <a:t>our AI extracts key details and action items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050220" y="6209369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706488" y="4919394"/>
            <a:ext cx="2625072" cy="3443576"/>
          </a:xfrm>
          <a:custGeom>
            <a:avLst/>
            <a:gdLst/>
            <a:ahLst/>
            <a:cxnLst/>
            <a:rect r="r" b="b" t="t" l="l"/>
            <a:pathLst>
              <a:path h="3443576" w="2625072">
                <a:moveTo>
                  <a:pt x="0" y="0"/>
                </a:moveTo>
                <a:lnTo>
                  <a:pt x="2625072" y="0"/>
                </a:lnTo>
                <a:lnTo>
                  <a:pt x="2625072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351818" y="4493047"/>
            <a:ext cx="1542230" cy="1300906"/>
          </a:xfrm>
          <a:custGeom>
            <a:avLst/>
            <a:gdLst/>
            <a:ahLst/>
            <a:cxnLst/>
            <a:rect r="r" b="b" t="t" l="l"/>
            <a:pathLst>
              <a:path h="1300906" w="1542230">
                <a:moveTo>
                  <a:pt x="0" y="0"/>
                </a:moveTo>
                <a:lnTo>
                  <a:pt x="1542230" y="0"/>
                </a:lnTo>
                <a:lnTo>
                  <a:pt x="154223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018885" y="6134585"/>
            <a:ext cx="2034203" cy="698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b="true" sz="1916" spc="-38">
                <a:solidFill>
                  <a:srgbClr val="2042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Review extracted details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05517" y="7098144"/>
            <a:ext cx="1864153" cy="90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5"/>
              </a:lnSpc>
            </a:pPr>
            <a:r>
              <a:rPr lang="en-US" sz="1617" spc="-32">
                <a:solidFill>
                  <a:srgbClr val="40604F"/>
                </a:solidFill>
                <a:latin typeface="Inter"/>
                <a:ea typeface="Inter"/>
                <a:cs typeface="Inter"/>
                <a:sym typeface="Inter"/>
              </a:rPr>
              <a:t>you verify, edit,</a:t>
            </a:r>
          </a:p>
          <a:p>
            <a:pPr algn="ctr">
              <a:lnSpc>
                <a:spcPts val="2425"/>
              </a:lnSpc>
            </a:pPr>
            <a:r>
              <a:rPr lang="en-US" sz="1617" spc="-32">
                <a:solidFill>
                  <a:srgbClr val="40604F"/>
                </a:solidFill>
                <a:latin typeface="Inter"/>
                <a:ea typeface="Inter"/>
                <a:cs typeface="Inter"/>
                <a:sym typeface="Inter"/>
              </a:rPr>
              <a:t>and confirm before anything is saved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1320622" y="6209369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965952" y="4919394"/>
            <a:ext cx="2625072" cy="3443576"/>
          </a:xfrm>
          <a:custGeom>
            <a:avLst/>
            <a:gdLst/>
            <a:ahLst/>
            <a:cxnLst/>
            <a:rect r="r" b="b" t="t" l="l"/>
            <a:pathLst>
              <a:path h="3443576" w="2625072">
                <a:moveTo>
                  <a:pt x="0" y="0"/>
                </a:moveTo>
                <a:lnTo>
                  <a:pt x="2625072" y="0"/>
                </a:lnTo>
                <a:lnTo>
                  <a:pt x="2625072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622220" y="4493047"/>
            <a:ext cx="1312536" cy="1300906"/>
          </a:xfrm>
          <a:custGeom>
            <a:avLst/>
            <a:gdLst/>
            <a:ahLst/>
            <a:cxnLst/>
            <a:rect r="r" b="b" t="t" l="l"/>
            <a:pathLst>
              <a:path h="1300906" w="1312536">
                <a:moveTo>
                  <a:pt x="0" y="0"/>
                </a:moveTo>
                <a:lnTo>
                  <a:pt x="1312536" y="0"/>
                </a:lnTo>
                <a:lnTo>
                  <a:pt x="131253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568526" y="6134585"/>
            <a:ext cx="1368583" cy="698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b="true" sz="1916" spc="-38">
                <a:solidFill>
                  <a:srgbClr val="2042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Save notice</a:t>
            </a:r>
          </a:p>
          <a:p>
            <a:pPr algn="ctr">
              <a:lnSpc>
                <a:spcPts val="2874"/>
              </a:lnSpc>
            </a:pPr>
            <a:r>
              <a:rPr lang="en-US" b="true" sz="1916" spc="-38">
                <a:solidFill>
                  <a:srgbClr val="2042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and tasks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06052" y="7098144"/>
            <a:ext cx="2093530" cy="90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5"/>
              </a:lnSpc>
            </a:pPr>
            <a:r>
              <a:rPr lang="en-US" sz="1617" spc="-32">
                <a:solidFill>
                  <a:srgbClr val="40604F"/>
                </a:solidFill>
                <a:latin typeface="Inter"/>
                <a:ea typeface="Inter"/>
                <a:cs typeface="Inter"/>
                <a:sym typeface="Inter"/>
              </a:rPr>
              <a:t>store confirmed information and tasks in one place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4580086" y="6209369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017598" y="4919394"/>
            <a:ext cx="2843828" cy="3443576"/>
          </a:xfrm>
          <a:custGeom>
            <a:avLst/>
            <a:gdLst/>
            <a:ahLst/>
            <a:cxnLst/>
            <a:rect r="r" b="b" t="t" l="l"/>
            <a:pathLst>
              <a:path h="3443576" w="2843828">
                <a:moveTo>
                  <a:pt x="0" y="0"/>
                </a:moveTo>
                <a:lnTo>
                  <a:pt x="2843828" y="0"/>
                </a:lnTo>
                <a:lnTo>
                  <a:pt x="2843828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673866" y="4493047"/>
            <a:ext cx="1531292" cy="1300906"/>
          </a:xfrm>
          <a:custGeom>
            <a:avLst/>
            <a:gdLst/>
            <a:ahLst/>
            <a:cxnLst/>
            <a:rect r="r" b="b" t="t" l="l"/>
            <a:pathLst>
              <a:path h="1300906" w="1531292">
                <a:moveTo>
                  <a:pt x="0" y="0"/>
                </a:moveTo>
                <a:lnTo>
                  <a:pt x="1531292" y="0"/>
                </a:lnTo>
                <a:lnTo>
                  <a:pt x="153129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5492509" y="6148530"/>
            <a:ext cx="1949992" cy="341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7"/>
              </a:lnSpc>
            </a:pPr>
            <a:r>
              <a:rPr lang="en-US" b="true" sz="1898" spc="-38">
                <a:solidFill>
                  <a:srgbClr val="2042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Track progress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664999" y="6857170"/>
            <a:ext cx="1605011" cy="90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5"/>
              </a:lnSpc>
            </a:pPr>
            <a:r>
              <a:rPr lang="en-US" sz="1617" spc="-32">
                <a:solidFill>
                  <a:srgbClr val="40604F"/>
                </a:solidFill>
                <a:latin typeface="Inter"/>
                <a:ea typeface="Inter"/>
                <a:cs typeface="Inter"/>
                <a:sym typeface="Inter"/>
              </a:rPr>
              <a:t>stay on top of deadlines and completed tasks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4779818" y="8570678"/>
            <a:ext cx="10467474" cy="1082267"/>
          </a:xfrm>
          <a:custGeom>
            <a:avLst/>
            <a:gdLst/>
            <a:ahLst/>
            <a:cxnLst/>
            <a:rect r="r" b="b" t="t" l="l"/>
            <a:pathLst>
              <a:path h="1082267" w="10467474">
                <a:moveTo>
                  <a:pt x="0" y="0"/>
                </a:moveTo>
                <a:lnTo>
                  <a:pt x="10467474" y="0"/>
                </a:lnTo>
                <a:lnTo>
                  <a:pt x="1046747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6170799" y="9052867"/>
            <a:ext cx="7364437" cy="238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6"/>
              </a:lnSpc>
            </a:pPr>
            <a:r>
              <a:rPr lang="en-US" b="true" sz="1863" spc="-37">
                <a:solidFill>
                  <a:srgbClr val="4060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You stay in control — review and edit first for accuracy and clarity.</a:t>
            </a:r>
          </a:p>
        </p:txBody>
      </p:sp>
      <p:sp>
        <p:nvSpPr>
          <p:cNvPr name="TextBox 31" id="31"/>
          <p:cNvSpPr txBox="true"/>
          <p:nvPr/>
        </p:nvSpPr>
        <p:spPr>
          <a:xfrm rot="-5400000">
            <a:off x="-2124362" y="5303490"/>
            <a:ext cx="6890075" cy="238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6"/>
              </a:lnSpc>
            </a:pPr>
            <a:r>
              <a:rPr lang="en-US" sz="1863" spc="186">
                <a:solidFill>
                  <a:srgbClr val="9BB286"/>
                </a:solidFill>
                <a:latin typeface="Inter"/>
                <a:ea typeface="Inter"/>
                <a:cs typeface="Inter"/>
                <a:sym typeface="Inter"/>
              </a:rPr>
              <a:t>AI-POWERED CAMPUS PRODUCTIVITY ASSISTANT</a:t>
            </a:r>
          </a:p>
        </p:txBody>
      </p:sp>
      <p:sp>
        <p:nvSpPr>
          <p:cNvPr name="TextBox 32" id="32"/>
          <p:cNvSpPr txBox="true"/>
          <p:nvPr/>
        </p:nvSpPr>
        <p:spPr>
          <a:xfrm rot="-5400000">
            <a:off x="-859367" y="6763838"/>
            <a:ext cx="3040195" cy="516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1"/>
              </a:lnSpc>
            </a:pPr>
            <a:r>
              <a:rPr lang="en-US" b="true" sz="3849" spc="-77">
                <a:solidFill>
                  <a:srgbClr val="F6F5F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CampusLens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968804" cy="10287000"/>
          </a:xfrm>
          <a:custGeom>
            <a:avLst/>
            <a:gdLst/>
            <a:ahLst/>
            <a:cxnLst/>
            <a:rect r="r" b="b" t="t" l="l"/>
            <a:pathLst>
              <a:path h="10287000" w="1968804">
                <a:moveTo>
                  <a:pt x="0" y="0"/>
                </a:moveTo>
                <a:lnTo>
                  <a:pt x="1968804" y="0"/>
                </a:lnTo>
                <a:lnTo>
                  <a:pt x="196880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63777" y="843310"/>
            <a:ext cx="6155100" cy="917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6"/>
              </a:lnSpc>
            </a:pPr>
            <a:r>
              <a:rPr lang="en-US" sz="6480" spc="-63" b="true">
                <a:solidFill>
                  <a:srgbClr val="0B341D"/>
                </a:solidFill>
                <a:latin typeface="Inter Bold"/>
                <a:ea typeface="Inter Bold"/>
                <a:cs typeface="Inter Bold"/>
                <a:sym typeface="Inter Bold"/>
              </a:rPr>
              <a:t>Notice Scanner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71088" y="2262463"/>
            <a:ext cx="5424007" cy="151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0"/>
              </a:lnSpc>
            </a:pPr>
            <a:r>
              <a:rPr lang="en-US" sz="5484" spc="-53" b="true">
                <a:solidFill>
                  <a:srgbClr val="0B341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Turn a notice into a </a:t>
            </a:r>
            <a:r>
              <a:rPr lang="en-US" sz="5484" spc="-53" b="true">
                <a:solidFill>
                  <a:srgbClr val="A2BB9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next step.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78965" y="4563502"/>
            <a:ext cx="4636289" cy="31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18">
                <a:solidFill>
                  <a:srgbClr val="0B341D"/>
                </a:solidFill>
                <a:latin typeface="Inter"/>
                <a:ea typeface="Inter"/>
                <a:cs typeface="Inter"/>
                <a:sym typeface="Inter"/>
              </a:rPr>
              <a:t>Accepts image, PDF, or pasted text inputs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603196" y="5138034"/>
            <a:ext cx="5457962" cy="229572"/>
          </a:xfrm>
          <a:custGeom>
            <a:avLst/>
            <a:gdLst/>
            <a:ahLst/>
            <a:cxnLst/>
            <a:rect r="r" b="b" t="t" l="l"/>
            <a:pathLst>
              <a:path h="229572" w="5457962">
                <a:moveTo>
                  <a:pt x="0" y="0"/>
                </a:moveTo>
                <a:lnTo>
                  <a:pt x="5457962" y="0"/>
                </a:lnTo>
                <a:lnTo>
                  <a:pt x="545796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85902" y="5437031"/>
            <a:ext cx="3942629" cy="65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18">
                <a:solidFill>
                  <a:srgbClr val="0B341D"/>
                </a:solidFill>
                <a:latin typeface="Inter"/>
                <a:ea typeface="Inter"/>
                <a:cs typeface="Inter"/>
                <a:sym typeface="Inter"/>
              </a:rPr>
              <a:t>Extracts title, deadline, venue,</a:t>
            </a:r>
          </a:p>
          <a:p>
            <a:pPr algn="l">
              <a:lnSpc>
                <a:spcPts val="2794"/>
              </a:lnSpc>
            </a:pPr>
            <a:r>
              <a:rPr lang="en-US" sz="1863" spc="-18">
                <a:solidFill>
                  <a:srgbClr val="0B341D"/>
                </a:solidFill>
                <a:latin typeface="Inter"/>
                <a:ea typeface="Inter"/>
                <a:cs typeface="Inter"/>
                <a:sym typeface="Inter"/>
              </a:rPr>
              <a:t>eligibility, and actions when present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603196" y="6209369"/>
            <a:ext cx="5457962" cy="229572"/>
          </a:xfrm>
          <a:custGeom>
            <a:avLst/>
            <a:gdLst/>
            <a:ahLst/>
            <a:cxnLst/>
            <a:rect r="r" b="b" t="t" l="l"/>
            <a:pathLst>
              <a:path h="229572" w="5457962">
                <a:moveTo>
                  <a:pt x="0" y="0"/>
                </a:moveTo>
                <a:lnTo>
                  <a:pt x="5457962" y="0"/>
                </a:lnTo>
                <a:lnTo>
                  <a:pt x="545796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580985" y="6672020"/>
            <a:ext cx="4434287" cy="31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18">
                <a:solidFill>
                  <a:srgbClr val="0B341D"/>
                </a:solidFill>
                <a:latin typeface="Inter"/>
                <a:ea typeface="Inter"/>
                <a:cs typeface="Inter"/>
                <a:sym typeface="Inter"/>
              </a:rPr>
              <a:t>Editable extraction results before saving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603196" y="7280704"/>
            <a:ext cx="5457962" cy="229572"/>
          </a:xfrm>
          <a:custGeom>
            <a:avLst/>
            <a:gdLst/>
            <a:ahLst/>
            <a:cxnLst/>
            <a:rect r="r" b="b" t="t" l="l"/>
            <a:pathLst>
              <a:path h="229572" w="5457962">
                <a:moveTo>
                  <a:pt x="0" y="0"/>
                </a:moveTo>
                <a:lnTo>
                  <a:pt x="5457962" y="0"/>
                </a:lnTo>
                <a:lnTo>
                  <a:pt x="545796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575582" y="7545549"/>
            <a:ext cx="4974580" cy="31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18">
                <a:solidFill>
                  <a:srgbClr val="0B341D"/>
                </a:solidFill>
                <a:latin typeface="Inter"/>
                <a:ea typeface="Inter"/>
                <a:cs typeface="Inter"/>
                <a:sym typeface="Inter"/>
              </a:rPr>
              <a:t>Powered by AI model `gemma-4-26b-a4b-it'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80603" y="8769897"/>
            <a:ext cx="4472533" cy="602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i="true" spc="-15">
                <a:solidFill>
                  <a:srgbClr val="A2BB91"/>
                </a:solidFill>
                <a:latin typeface="Inter Italics"/>
                <a:ea typeface="Inter Italics"/>
                <a:cs typeface="Inter Italics"/>
                <a:sym typeface="Inter Italics"/>
              </a:rPr>
              <a:t>Extraction may be incomplete or inaccurate.</a:t>
            </a:r>
          </a:p>
          <a:p>
            <a:pPr algn="l">
              <a:lnSpc>
                <a:spcPts val="2425"/>
              </a:lnSpc>
            </a:pPr>
            <a:r>
              <a:rPr lang="en-US" sz="1617" i="true" spc="-15">
                <a:solidFill>
                  <a:srgbClr val="A2BB91"/>
                </a:solidFill>
                <a:latin typeface="Inter Italics"/>
                <a:ea typeface="Inter Italics"/>
                <a:cs typeface="Inter Italics"/>
                <a:sym typeface="Inter Italics"/>
              </a:rPr>
              <a:t>Always review before relying on it.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831464" y="2142670"/>
            <a:ext cx="10456536" cy="6646648"/>
          </a:xfrm>
          <a:custGeom>
            <a:avLst/>
            <a:gdLst/>
            <a:ahLst/>
            <a:cxnLst/>
            <a:rect r="r" b="b" t="t" l="l"/>
            <a:pathLst>
              <a:path h="6646648" w="10456536">
                <a:moveTo>
                  <a:pt x="0" y="0"/>
                </a:moveTo>
                <a:lnTo>
                  <a:pt x="10456536" y="0"/>
                </a:lnTo>
                <a:lnTo>
                  <a:pt x="10456536" y="6646648"/>
                </a:lnTo>
                <a:lnTo>
                  <a:pt x="0" y="66466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144000" y="3214004"/>
            <a:ext cx="1531292" cy="644987"/>
          </a:xfrm>
          <a:custGeom>
            <a:avLst/>
            <a:gdLst/>
            <a:ahLst/>
            <a:cxnLst/>
            <a:rect r="r" b="b" t="t" l="l"/>
            <a:pathLst>
              <a:path h="644987" w="1531292">
                <a:moveTo>
                  <a:pt x="0" y="0"/>
                </a:moveTo>
                <a:lnTo>
                  <a:pt x="1531292" y="0"/>
                </a:lnTo>
                <a:lnTo>
                  <a:pt x="153129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103493" y="2952104"/>
            <a:ext cx="1396841" cy="25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spc="-14" b="true">
                <a:solidFill>
                  <a:srgbClr val="0B341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Notice Scanner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1101866" y="4285339"/>
            <a:ext cx="3051646" cy="2153601"/>
          </a:xfrm>
          <a:custGeom>
            <a:avLst/>
            <a:gdLst/>
            <a:ahLst/>
            <a:cxnLst/>
            <a:rect r="r" b="b" t="t" l="l"/>
            <a:pathLst>
              <a:path h="2153601" w="3051646">
                <a:moveTo>
                  <a:pt x="0" y="0"/>
                </a:moveTo>
                <a:lnTo>
                  <a:pt x="3051646" y="0"/>
                </a:lnTo>
                <a:lnTo>
                  <a:pt x="305164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101866" y="4493047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145666" y="4765110"/>
            <a:ext cx="1660840" cy="637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b="true" sz="1125" spc="-10">
                <a:solidFill>
                  <a:srgbClr val="0B341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Drag and drop an image here</a:t>
            </a:r>
          </a:p>
          <a:p>
            <a:pPr algn="ctr">
              <a:lnSpc>
                <a:spcPts val="1687"/>
              </a:lnSpc>
            </a:pPr>
            <a:r>
              <a:rPr lang="en-US" sz="1125" spc="-10">
                <a:solidFill>
                  <a:srgbClr val="0B341D"/>
                </a:solidFill>
                <a:latin typeface="Inter"/>
                <a:ea typeface="Inter"/>
                <a:cs typeface="Inter"/>
                <a:sym typeface="Inter"/>
              </a:rPr>
              <a:t>or click to browse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1101866" y="6428009"/>
            <a:ext cx="3051646" cy="1082267"/>
          </a:xfrm>
          <a:custGeom>
            <a:avLst/>
            <a:gdLst/>
            <a:ahLst/>
            <a:cxnLst/>
            <a:rect r="r" b="b" t="t" l="l"/>
            <a:pathLst>
              <a:path h="1082267" w="3051646">
                <a:moveTo>
                  <a:pt x="0" y="0"/>
                </a:moveTo>
                <a:lnTo>
                  <a:pt x="3051646" y="0"/>
                </a:lnTo>
                <a:lnTo>
                  <a:pt x="305164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142574" y="3640352"/>
            <a:ext cx="3062584" cy="4296271"/>
          </a:xfrm>
          <a:custGeom>
            <a:avLst/>
            <a:gdLst/>
            <a:ahLst/>
            <a:cxnLst/>
            <a:rect r="r" b="b" t="t" l="l"/>
            <a:pathLst>
              <a:path h="4296271" w="3062584">
                <a:moveTo>
                  <a:pt x="0" y="0"/>
                </a:moveTo>
                <a:lnTo>
                  <a:pt x="3062584" y="0"/>
                </a:lnTo>
                <a:lnTo>
                  <a:pt x="3062584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4320581" y="3764427"/>
            <a:ext cx="1156733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10" b="true">
                <a:solidFill>
                  <a:srgbClr val="0B341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Extracted Details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321902" y="4839883"/>
            <a:ext cx="1024638" cy="637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10" b="true">
                <a:solidFill>
                  <a:srgbClr val="0B341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Deadline</a:t>
            </a:r>
          </a:p>
          <a:p>
            <a:pPr algn="l">
              <a:lnSpc>
                <a:spcPts val="1687"/>
              </a:lnSpc>
            </a:pPr>
            <a:r>
              <a:rPr lang="en-US" sz="1125" spc="-10">
                <a:solidFill>
                  <a:srgbClr val="0B341D"/>
                </a:solidFill>
                <a:latin typeface="Inter"/>
                <a:ea typeface="Inter"/>
                <a:cs typeface="Inter"/>
                <a:sym typeface="Inter"/>
              </a:rPr>
              <a:t>March 15, 2025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10736" y="6483282"/>
            <a:ext cx="2141210" cy="637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10" b="true">
                <a:solidFill>
                  <a:srgbClr val="0B341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Actions</a:t>
            </a:r>
          </a:p>
          <a:p>
            <a:pPr algn="l">
              <a:lnSpc>
                <a:spcPts val="1687"/>
              </a:lnSpc>
            </a:pPr>
            <a:r>
              <a:rPr lang="en-US" sz="1125" spc="-10">
                <a:solidFill>
                  <a:srgbClr val="0B341D"/>
                </a:solidFill>
                <a:latin typeface="Inter"/>
                <a:ea typeface="Inter"/>
                <a:cs typeface="Inter"/>
                <a:sym typeface="Inter"/>
              </a:rPr>
              <a:t>Register online and submit abstract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4798842" y="7280704"/>
            <a:ext cx="1312536" cy="437279"/>
          </a:xfrm>
          <a:custGeom>
            <a:avLst/>
            <a:gdLst/>
            <a:ahLst/>
            <a:cxnLst/>
            <a:rect r="r" b="b" t="t" l="l"/>
            <a:pathLst>
              <a:path h="437279" w="1312536">
                <a:moveTo>
                  <a:pt x="0" y="0"/>
                </a:moveTo>
                <a:lnTo>
                  <a:pt x="1312536" y="0"/>
                </a:lnTo>
                <a:lnTo>
                  <a:pt x="131253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892622" y="7280704"/>
            <a:ext cx="1093780" cy="437279"/>
          </a:xfrm>
          <a:custGeom>
            <a:avLst/>
            <a:gdLst/>
            <a:ahLst/>
            <a:cxnLst/>
            <a:rect r="r" b="b" t="t" l="l"/>
            <a:pathLst>
              <a:path h="437279" w="1093780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-5400000">
            <a:off x="-2285782" y="5214550"/>
            <a:ext cx="6128469" cy="31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b="true" sz="1740" spc="86">
                <a:solidFill>
                  <a:srgbClr val="0B341D">
                    <a:alpha val="4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AI-POWERED CAMPUS PRODUCTIVITY ASSISTANT</a:t>
            </a:r>
          </a:p>
        </p:txBody>
      </p:sp>
      <p:sp>
        <p:nvSpPr>
          <p:cNvPr name="TextBox 28" id="28"/>
          <p:cNvSpPr txBox="true"/>
          <p:nvPr/>
        </p:nvSpPr>
        <p:spPr>
          <a:xfrm rot="-5400000">
            <a:off x="-883990" y="6601778"/>
            <a:ext cx="2984347" cy="66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0"/>
              </a:lnSpc>
            </a:pPr>
            <a:r>
              <a:rPr lang="en-US" b="true" sz="3713" spc="-36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CampusLens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310722" y="5908234"/>
            <a:ext cx="2142654" cy="637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4" spc="-10" b="true">
                <a:solidFill>
                  <a:srgbClr val="0B341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Eligibility</a:t>
            </a:r>
          </a:p>
          <a:p>
            <a:pPr algn="l">
              <a:lnSpc>
                <a:spcPts val="1687"/>
              </a:lnSpc>
            </a:pPr>
            <a:r>
              <a:rPr lang="en-US" sz="1124" spc="-10">
                <a:solidFill>
                  <a:srgbClr val="0B341D"/>
                </a:solidFill>
                <a:latin typeface="Inter"/>
                <a:ea typeface="Inter"/>
                <a:cs typeface="Inter"/>
                <a:sym typeface="Inter"/>
              </a:rPr>
              <a:t>Open to all undergraduate students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311775" y="4389731"/>
            <a:ext cx="2037336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10" b="true">
                <a:solidFill>
                  <a:srgbClr val="0B341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Title</a:t>
            </a:r>
          </a:p>
          <a:p>
            <a:pPr algn="l">
              <a:lnSpc>
                <a:spcPts val="1687"/>
              </a:lnSpc>
            </a:pPr>
            <a:r>
              <a:rPr lang="en-US" sz="1125" spc="-10">
                <a:solidFill>
                  <a:srgbClr val="0B341D"/>
                </a:solidFill>
                <a:latin typeface="Inter"/>
                <a:ea typeface="Inter"/>
                <a:cs typeface="Inter"/>
                <a:sym typeface="Inter"/>
              </a:rPr>
              <a:t>Annual Tech Symposium 2025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315496" y="5489173"/>
            <a:ext cx="1665284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10" b="true">
                <a:solidFill>
                  <a:srgbClr val="0B341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Venue</a:t>
            </a:r>
          </a:p>
          <a:p>
            <a:pPr algn="l">
              <a:lnSpc>
                <a:spcPts val="1687"/>
              </a:lnSpc>
            </a:pPr>
            <a:r>
              <a:rPr lang="en-US" sz="1125" spc="-10">
                <a:solidFill>
                  <a:srgbClr val="0B341D"/>
                </a:solidFill>
                <a:latin typeface="Inter"/>
                <a:ea typeface="Inter"/>
                <a:cs typeface="Inter"/>
                <a:sym typeface="Inter"/>
              </a:rPr>
              <a:t>Main Auditorium, Block 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091866" y="3177836"/>
            <a:ext cx="2559517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10">
                <a:solidFill>
                  <a:srgbClr val="0B341D">
                    <a:alpha val="4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Upload or paste a notice to extract key details.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257083" y="2620765"/>
            <a:ext cx="1193284" cy="25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spc="-14" b="true">
                <a:solidFill>
                  <a:srgbClr val="0B341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CampusLens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292964" y="6867742"/>
            <a:ext cx="1202012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10">
                <a:solidFill>
                  <a:srgbClr val="0B341D">
                    <a:alpha val="4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gemma-4-26b-a4b-it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340656" y="3283261"/>
            <a:ext cx="872692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10" b="true">
                <a:solidFill>
                  <a:srgbClr val="0B341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Notice Scanner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243588" y="3689904"/>
            <a:ext cx="781844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4" spc="-10" b="true">
                <a:solidFill>
                  <a:srgbClr val="0B341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Upload Image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342561" y="4879711"/>
            <a:ext cx="682224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10">
                <a:solidFill>
                  <a:srgbClr val="0B341D"/>
                </a:solidFill>
                <a:latin typeface="Inter"/>
                <a:ea typeface="Inter"/>
                <a:cs typeface="Inter"/>
                <a:sym typeface="Inter"/>
              </a:rPr>
              <a:t>Saved Items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262813" y="3689904"/>
            <a:ext cx="657809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10">
                <a:solidFill>
                  <a:srgbClr val="0B341D"/>
                </a:solidFill>
                <a:latin typeface="Inter"/>
                <a:ea typeface="Inter"/>
                <a:cs typeface="Inter"/>
                <a:sym typeface="Inter"/>
              </a:rPr>
              <a:t>Upload PDF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147549" y="3689904"/>
            <a:ext cx="588056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10">
                <a:solidFill>
                  <a:srgbClr val="0B341D"/>
                </a:solidFill>
                <a:latin typeface="Inter"/>
                <a:ea typeface="Inter"/>
                <a:cs typeface="Inter"/>
                <a:sym typeface="Inter"/>
              </a:rPr>
              <a:t>Paste Text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343333" y="3825452"/>
            <a:ext cx="604947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10">
                <a:solidFill>
                  <a:srgbClr val="0B341D"/>
                </a:solidFill>
                <a:latin typeface="Inter"/>
                <a:ea typeface="Inter"/>
                <a:cs typeface="Inter"/>
                <a:sym typeface="Inter"/>
              </a:rPr>
              <a:t>Dashboard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344041" y="4367642"/>
            <a:ext cx="534188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10">
                <a:solidFill>
                  <a:srgbClr val="0B341D"/>
                </a:solidFill>
                <a:latin typeface="Inter"/>
                <a:ea typeface="Inter"/>
                <a:cs typeface="Inter"/>
                <a:sym typeface="Inter"/>
              </a:rPr>
              <a:t>My Tasks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246399" y="6551464"/>
            <a:ext cx="500705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10" b="true">
                <a:solidFill>
                  <a:srgbClr val="0B341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AI Model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344878" y="5406840"/>
            <a:ext cx="450509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10">
                <a:solidFill>
                  <a:srgbClr val="0B341D"/>
                </a:solidFill>
                <a:latin typeface="Inter"/>
                <a:ea typeface="Inter"/>
                <a:cs typeface="Inter"/>
                <a:sym typeface="Inter"/>
              </a:rPr>
              <a:t>Settings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268913" y="7259323"/>
            <a:ext cx="384788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125" spc="-10">
                <a:solidFill>
                  <a:srgbClr val="0B341D"/>
                </a:solidFill>
                <a:latin typeface="Inter"/>
                <a:ea typeface="Inter"/>
                <a:cs typeface="Inter"/>
                <a:sym typeface="Inter"/>
              </a:rPr>
              <a:t>Cancel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642971" y="3750147"/>
            <a:ext cx="208424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124" spc="-10">
                <a:solidFill>
                  <a:srgbClr val="0B341D"/>
                </a:solidFill>
                <a:latin typeface="Inter"/>
                <a:ea typeface="Inter"/>
                <a:cs typeface="Inter"/>
                <a:sym typeface="Inter"/>
              </a:rPr>
              <a:t>Edit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341419" y="7259323"/>
            <a:ext cx="275747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125" spc="-1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Save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968804" cy="10287000"/>
          </a:xfrm>
          <a:custGeom>
            <a:avLst/>
            <a:gdLst/>
            <a:ahLst/>
            <a:cxnLst/>
            <a:rect r="r" b="b" t="t" l="l"/>
            <a:pathLst>
              <a:path h="10287000" w="1968804">
                <a:moveTo>
                  <a:pt x="0" y="0"/>
                </a:moveTo>
                <a:lnTo>
                  <a:pt x="1968804" y="0"/>
                </a:lnTo>
                <a:lnTo>
                  <a:pt x="196880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86396" y="652662"/>
            <a:ext cx="3177561" cy="31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b="true" sz="1740" spc="-34">
                <a:solidFill>
                  <a:srgbClr val="5D725C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YOUR CAMPUS WORKSPACE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73167" y="1234717"/>
            <a:ext cx="4500489" cy="242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3"/>
              </a:lnSpc>
            </a:pPr>
            <a:r>
              <a:rPr lang="en-US" sz="5868" spc="-57" b="true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Everything important, in </a:t>
            </a:r>
            <a:r>
              <a:rPr lang="en-US" sz="5868" spc="-57" b="true">
                <a:solidFill>
                  <a:srgbClr val="9FAF8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one</a:t>
            </a:r>
            <a:r>
              <a:rPr lang="en-US" sz="5868" spc="-57" b="true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place.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384440" y="4493047"/>
            <a:ext cx="4375120" cy="437279"/>
          </a:xfrm>
          <a:custGeom>
            <a:avLst/>
            <a:gdLst/>
            <a:ahLst/>
            <a:cxnLst/>
            <a:rect r="r" b="b" t="t" l="l"/>
            <a:pathLst>
              <a:path h="437279" w="4375120">
                <a:moveTo>
                  <a:pt x="0" y="0"/>
                </a:moveTo>
                <a:lnTo>
                  <a:pt x="4375120" y="0"/>
                </a:lnTo>
                <a:lnTo>
                  <a:pt x="437512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97191" y="4854414"/>
            <a:ext cx="2098069" cy="698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spc="-38" b="true">
                <a:solidFill>
                  <a:srgbClr val="5D725C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Manage open and completed tasks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384440" y="5564382"/>
            <a:ext cx="4375120" cy="437279"/>
          </a:xfrm>
          <a:custGeom>
            <a:avLst/>
            <a:gdLst/>
            <a:ahLst/>
            <a:cxnLst/>
            <a:rect r="r" b="b" t="t" l="l"/>
            <a:pathLst>
              <a:path h="437279" w="4375120">
                <a:moveTo>
                  <a:pt x="0" y="0"/>
                </a:moveTo>
                <a:lnTo>
                  <a:pt x="4375120" y="0"/>
                </a:lnTo>
                <a:lnTo>
                  <a:pt x="437512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89431" y="5923733"/>
            <a:ext cx="2874095" cy="698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spc="-38" b="true">
                <a:solidFill>
                  <a:srgbClr val="5D725C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Track task completion at a glance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384440" y="6635716"/>
            <a:ext cx="4375120" cy="229572"/>
          </a:xfrm>
          <a:custGeom>
            <a:avLst/>
            <a:gdLst/>
            <a:ahLst/>
            <a:cxnLst/>
            <a:rect r="r" b="b" t="t" l="l"/>
            <a:pathLst>
              <a:path h="229572" w="4375120">
                <a:moveTo>
                  <a:pt x="0" y="0"/>
                </a:moveTo>
                <a:lnTo>
                  <a:pt x="4375120" y="0"/>
                </a:lnTo>
                <a:lnTo>
                  <a:pt x="437512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93826" y="6993052"/>
            <a:ext cx="2434542" cy="698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spc="-38" b="true">
                <a:solidFill>
                  <a:srgbClr val="5D725C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Plan ahead with your upcoming workload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77380" y="8303458"/>
            <a:ext cx="4079169" cy="85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546" spc="-30" b="true">
                <a:solidFill>
                  <a:srgbClr val="5D725C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 clear dashboard that brings what matters together, helping you focus on what’s next and stay ahead with confidence.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175196" y="1705390"/>
            <a:ext cx="11112804" cy="6876220"/>
          </a:xfrm>
          <a:custGeom>
            <a:avLst/>
            <a:gdLst/>
            <a:ahLst/>
            <a:cxnLst/>
            <a:rect r="r" b="b" t="t" l="l"/>
            <a:pathLst>
              <a:path h="6876220" w="11112804">
                <a:moveTo>
                  <a:pt x="0" y="0"/>
                </a:moveTo>
                <a:lnTo>
                  <a:pt x="11112804" y="0"/>
                </a:lnTo>
                <a:lnTo>
                  <a:pt x="11112804" y="6876220"/>
                </a:lnTo>
                <a:lnTo>
                  <a:pt x="0" y="68762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558565" y="2294293"/>
            <a:ext cx="1393497" cy="31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spc="-34" b="true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CampusLens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268976" y="2776725"/>
            <a:ext cx="1750048" cy="655919"/>
          </a:xfrm>
          <a:custGeom>
            <a:avLst/>
            <a:gdLst/>
            <a:ahLst/>
            <a:cxnLst/>
            <a:rect r="r" b="b" t="t" l="l"/>
            <a:pathLst>
              <a:path h="655919" w="1750048">
                <a:moveTo>
                  <a:pt x="0" y="0"/>
                </a:moveTo>
                <a:lnTo>
                  <a:pt x="1750048" y="0"/>
                </a:lnTo>
                <a:lnTo>
                  <a:pt x="175004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487732" y="2995365"/>
            <a:ext cx="448450" cy="229572"/>
          </a:xfrm>
          <a:custGeom>
            <a:avLst/>
            <a:gdLst/>
            <a:ahLst/>
            <a:cxnLst/>
            <a:rect r="r" b="b" t="t" l="l"/>
            <a:pathLst>
              <a:path h="229572" w="448450">
                <a:moveTo>
                  <a:pt x="0" y="0"/>
                </a:moveTo>
                <a:lnTo>
                  <a:pt x="448450" y="0"/>
                </a:lnTo>
                <a:lnTo>
                  <a:pt x="448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487732" y="3421712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487732" y="3848060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487732" y="4285339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487732" y="4919394"/>
            <a:ext cx="448450" cy="229572"/>
          </a:xfrm>
          <a:custGeom>
            <a:avLst/>
            <a:gdLst/>
            <a:ahLst/>
            <a:cxnLst/>
            <a:rect r="r" b="b" t="t" l="l"/>
            <a:pathLst>
              <a:path h="229572" w="448450">
                <a:moveTo>
                  <a:pt x="0" y="0"/>
                </a:moveTo>
                <a:lnTo>
                  <a:pt x="448450" y="0"/>
                </a:lnTo>
                <a:lnTo>
                  <a:pt x="44845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353923" y="2263502"/>
            <a:ext cx="1344396" cy="356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9"/>
              </a:lnSpc>
            </a:pPr>
            <a:r>
              <a:rPr lang="en-US" sz="1986" spc="-39" b="true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Dashboard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0226842" y="2995365"/>
            <a:ext cx="2406316" cy="1727254"/>
          </a:xfrm>
          <a:custGeom>
            <a:avLst/>
            <a:gdLst/>
            <a:ahLst/>
            <a:cxnLst/>
            <a:rect r="r" b="b" t="t" l="l"/>
            <a:pathLst>
              <a:path h="1727254" w="2406316">
                <a:moveTo>
                  <a:pt x="0" y="0"/>
                </a:moveTo>
                <a:lnTo>
                  <a:pt x="2406316" y="0"/>
                </a:lnTo>
                <a:lnTo>
                  <a:pt x="2406316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747196" y="3214004"/>
            <a:ext cx="667206" cy="644987"/>
          </a:xfrm>
          <a:custGeom>
            <a:avLst/>
            <a:gdLst/>
            <a:ahLst/>
            <a:cxnLst/>
            <a:rect r="r" b="b" t="t" l="l"/>
            <a:pathLst>
              <a:path h="644987" w="667206">
                <a:moveTo>
                  <a:pt x="0" y="0"/>
                </a:moveTo>
                <a:lnTo>
                  <a:pt x="667206" y="0"/>
                </a:lnTo>
                <a:lnTo>
                  <a:pt x="66720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445598" y="5356674"/>
            <a:ext cx="1750048" cy="1934962"/>
          </a:xfrm>
          <a:custGeom>
            <a:avLst/>
            <a:gdLst/>
            <a:ahLst/>
            <a:cxnLst/>
            <a:rect r="r" b="b" t="t" l="l"/>
            <a:pathLst>
              <a:path h="1934962" w="1750048">
                <a:moveTo>
                  <a:pt x="0" y="0"/>
                </a:moveTo>
                <a:lnTo>
                  <a:pt x="1750048" y="0"/>
                </a:lnTo>
                <a:lnTo>
                  <a:pt x="1750048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1095511" y="5989902"/>
            <a:ext cx="637009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b="true" sz="2311" spc="-46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75%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2622220" y="2995365"/>
            <a:ext cx="2187560" cy="1727254"/>
          </a:xfrm>
          <a:custGeom>
            <a:avLst/>
            <a:gdLst/>
            <a:ahLst/>
            <a:cxnLst/>
            <a:rect r="r" b="b" t="t" l="l"/>
            <a:pathLst>
              <a:path h="1727254" w="2187560">
                <a:moveTo>
                  <a:pt x="0" y="0"/>
                </a:moveTo>
                <a:lnTo>
                  <a:pt x="2187560" y="0"/>
                </a:lnTo>
                <a:lnTo>
                  <a:pt x="2187560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2878633" y="4148869"/>
            <a:ext cx="690589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4" spc="-22" b="true">
                <a:solidFill>
                  <a:srgbClr val="5D725C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 progress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4142574" y="3214004"/>
            <a:ext cx="667206" cy="644987"/>
          </a:xfrm>
          <a:custGeom>
            <a:avLst/>
            <a:gdLst/>
            <a:ahLst/>
            <a:cxnLst/>
            <a:rect r="r" b="b" t="t" l="l"/>
            <a:pathLst>
              <a:path h="644987" w="667206">
                <a:moveTo>
                  <a:pt x="0" y="0"/>
                </a:moveTo>
                <a:lnTo>
                  <a:pt x="667206" y="0"/>
                </a:lnTo>
                <a:lnTo>
                  <a:pt x="66720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798842" y="2995365"/>
            <a:ext cx="2406316" cy="1727254"/>
          </a:xfrm>
          <a:custGeom>
            <a:avLst/>
            <a:gdLst/>
            <a:ahLst/>
            <a:cxnLst/>
            <a:rect r="r" b="b" t="t" l="l"/>
            <a:pathLst>
              <a:path h="1727254" w="2406316">
                <a:moveTo>
                  <a:pt x="0" y="0"/>
                </a:moveTo>
                <a:lnTo>
                  <a:pt x="2406316" y="0"/>
                </a:lnTo>
                <a:lnTo>
                  <a:pt x="2406316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319196" y="3214004"/>
            <a:ext cx="667206" cy="644987"/>
          </a:xfrm>
          <a:custGeom>
            <a:avLst/>
            <a:gdLst/>
            <a:ahLst/>
            <a:cxnLst/>
            <a:rect r="r" b="b" t="t" l="l"/>
            <a:pathLst>
              <a:path h="644987" w="667206">
                <a:moveTo>
                  <a:pt x="0" y="0"/>
                </a:moveTo>
                <a:lnTo>
                  <a:pt x="667206" y="0"/>
                </a:lnTo>
                <a:lnTo>
                  <a:pt x="66720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840976" y="5564382"/>
            <a:ext cx="3926670" cy="1508614"/>
          </a:xfrm>
          <a:custGeom>
            <a:avLst/>
            <a:gdLst/>
            <a:ahLst/>
            <a:cxnLst/>
            <a:rect r="r" b="b" t="t" l="l"/>
            <a:pathLst>
              <a:path h="1508614" w="3926670">
                <a:moveTo>
                  <a:pt x="0" y="0"/>
                </a:moveTo>
                <a:lnTo>
                  <a:pt x="3926670" y="0"/>
                </a:lnTo>
                <a:lnTo>
                  <a:pt x="392667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-5400000">
            <a:off x="-791900" y="6719330"/>
            <a:ext cx="2951890" cy="518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7"/>
              </a:lnSpc>
            </a:pPr>
            <a:r>
              <a:rPr lang="en-US" b="true" sz="3671" spc="-35">
                <a:solidFill>
                  <a:srgbClr val="F6F3E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CampusLens</a:t>
            </a:r>
          </a:p>
        </p:txBody>
      </p:sp>
      <p:sp>
        <p:nvSpPr>
          <p:cNvPr name="TextBox 33" id="33"/>
          <p:cNvSpPr txBox="true"/>
          <p:nvPr/>
        </p:nvSpPr>
        <p:spPr>
          <a:xfrm rot="-5400000">
            <a:off x="-1796095" y="5313714"/>
            <a:ext cx="6210771" cy="23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1"/>
              </a:lnSpc>
            </a:pPr>
            <a:r>
              <a:rPr lang="en-US" b="true" sz="1784" spc="88">
                <a:solidFill>
                  <a:srgbClr val="9FAF8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AI-POWERED CAMPUS PRODUCTIVITY ASSISTANT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494374" y="4191290"/>
            <a:ext cx="2379756" cy="356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9"/>
              </a:lnSpc>
            </a:pPr>
            <a:r>
              <a:rPr lang="en-US" sz="1986" spc="-39" b="true">
                <a:solidFill>
                  <a:srgbClr val="5D725C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View saved notices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71004" y="5024629"/>
            <a:ext cx="1453539" cy="20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 spc="-23" b="true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Upcoming workload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516110" y="5024629"/>
            <a:ext cx="1199169" cy="20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 spc="-23" b="true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Task completion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177186" y="3382998"/>
            <a:ext cx="1221208" cy="20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 spc="-23" b="true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Completed tasks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356598" y="2690199"/>
            <a:ext cx="1076959" cy="20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 spc="-23" b="true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Welcome back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517870" y="3382998"/>
            <a:ext cx="1023169" cy="20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 spc="-23" b="true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Saved notices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258307" y="3772737"/>
            <a:ext cx="348137" cy="461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3"/>
              </a:lnSpc>
            </a:pPr>
            <a:r>
              <a:rPr lang="en-US" b="true" sz="2548" spc="-51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877376" y="3382998"/>
            <a:ext cx="816271" cy="20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 spc="-23" b="true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Open tasks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860458" y="2868698"/>
            <a:ext cx="672198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22" b="true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Dashboard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076612" y="6272448"/>
            <a:ext cx="674807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b="true" sz="1125" spc="-22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Completed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861634" y="4329599"/>
            <a:ext cx="554599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22" b="true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Calendar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183154" y="4148869"/>
            <a:ext cx="624453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4" spc="-22" b="true">
                <a:solidFill>
                  <a:srgbClr val="5D725C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This week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582864" y="3766824"/>
            <a:ext cx="215694" cy="47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707" spc="-54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8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886724" y="3766824"/>
            <a:ext cx="215694" cy="47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707" spc="-54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6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862116" y="4811546"/>
            <a:ext cx="506332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22" b="true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Settings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862485" y="3365706"/>
            <a:ext cx="469481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22" b="true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Notices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523606" y="4148869"/>
            <a:ext cx="449524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22" b="true">
                <a:solidFill>
                  <a:srgbClr val="5D725C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Unread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863492" y="3862713"/>
            <a:ext cx="368776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22" b="true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Tasks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023869" y="6980307"/>
            <a:ext cx="274659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b="true" sz="1124" spc="-22">
                <a:solidFill>
                  <a:srgbClr val="5D725C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169537" y="6980307"/>
            <a:ext cx="287182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b="true" sz="1125" spc="-22">
                <a:solidFill>
                  <a:srgbClr val="5D725C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Wed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604931" y="6980307"/>
            <a:ext cx="237676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b="true" sz="1125" spc="-22">
                <a:solidFill>
                  <a:srgbClr val="5D725C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Tue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728702" y="6980307"/>
            <a:ext cx="240416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b="true" sz="1125" spc="-22">
                <a:solidFill>
                  <a:srgbClr val="5D725C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Thu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5846588" y="6980307"/>
            <a:ext cx="201346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b="true" sz="1124" spc="-22">
                <a:solidFill>
                  <a:srgbClr val="5D725C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Sat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6389982" y="6980307"/>
            <a:ext cx="239698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b="true" sz="1124" spc="-22">
                <a:solidFill>
                  <a:srgbClr val="5D725C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Sun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5306749" y="6980307"/>
            <a:ext cx="155884" cy="4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b="true" sz="1124" spc="-22">
                <a:solidFill>
                  <a:srgbClr val="5D725C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Fri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750048" cy="10287000"/>
          </a:xfrm>
          <a:custGeom>
            <a:avLst/>
            <a:gdLst/>
            <a:ahLst/>
            <a:cxnLst/>
            <a:rect r="r" b="b" t="t" l="l"/>
            <a:pathLst>
              <a:path h="10287000" w="1750048">
                <a:moveTo>
                  <a:pt x="0" y="0"/>
                </a:moveTo>
                <a:lnTo>
                  <a:pt x="1750048" y="0"/>
                </a:lnTo>
                <a:lnTo>
                  <a:pt x="175004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23166" y="973261"/>
            <a:ext cx="3427126" cy="2748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7"/>
              </a:lnSpc>
            </a:pPr>
            <a:r>
              <a:rPr lang="en-US" sz="6618" spc="-64" b="true">
                <a:solidFill>
                  <a:srgbClr val="223D2D"/>
                </a:solidFill>
                <a:latin typeface="Inter Bold"/>
                <a:ea typeface="Inter Bold"/>
                <a:cs typeface="Inter Bold"/>
                <a:sym typeface="Inter Bold"/>
              </a:rPr>
              <a:t>Save it. Find it. </a:t>
            </a:r>
            <a:r>
              <a:rPr lang="en-US" sz="6618" spc="-64" b="true">
                <a:solidFill>
                  <a:srgbClr val="A5B891"/>
                </a:solidFill>
                <a:latin typeface="Inter Bold"/>
                <a:ea typeface="Inter Bold"/>
                <a:cs typeface="Inter Bold"/>
                <a:sym typeface="Inter Bold"/>
              </a:rPr>
              <a:t>Finish</a:t>
            </a:r>
            <a:r>
              <a:rPr lang="en-US" sz="6618" spc="-64" b="true">
                <a:solidFill>
                  <a:srgbClr val="223D2D"/>
                </a:solidFill>
                <a:latin typeface="Inter Bold"/>
                <a:ea typeface="Inter Bold"/>
                <a:cs typeface="Inter Bold"/>
                <a:sym typeface="Inter Bold"/>
              </a:rPr>
              <a:t> it.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176622" y="3848060"/>
            <a:ext cx="3926670" cy="448211"/>
          </a:xfrm>
          <a:custGeom>
            <a:avLst/>
            <a:gdLst/>
            <a:ahLst/>
            <a:cxnLst/>
            <a:rect r="r" b="b" t="t" l="l"/>
            <a:pathLst>
              <a:path h="448211" w="3926670">
                <a:moveTo>
                  <a:pt x="0" y="0"/>
                </a:moveTo>
                <a:lnTo>
                  <a:pt x="3926670" y="0"/>
                </a:lnTo>
                <a:lnTo>
                  <a:pt x="392667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23609" y="4663335"/>
            <a:ext cx="3382812" cy="32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spc="-19">
                <a:solidFill>
                  <a:srgbClr val="223D2D"/>
                </a:solidFill>
                <a:latin typeface="Inter"/>
                <a:ea typeface="Inter"/>
                <a:cs typeface="Inter"/>
                <a:sym typeface="Inter"/>
              </a:rPr>
              <a:t>Search and filter tasks easily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28956" y="5235647"/>
            <a:ext cx="2848109" cy="32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spc="-19">
                <a:solidFill>
                  <a:srgbClr val="223D2D"/>
                </a:solidFill>
                <a:latin typeface="Inter"/>
                <a:ea typeface="Inter"/>
                <a:cs typeface="Inter"/>
                <a:sym typeface="Inter"/>
              </a:rPr>
              <a:t>Track completion status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30723" y="5837793"/>
            <a:ext cx="2671422" cy="633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1863" spc="-18">
                <a:solidFill>
                  <a:srgbClr val="223D2D"/>
                </a:solidFill>
                <a:latin typeface="Inter"/>
                <a:ea typeface="Inter"/>
                <a:cs typeface="Inter"/>
                <a:sym typeface="Inter"/>
              </a:rPr>
              <a:t>Switch between list and</a:t>
            </a:r>
          </a:p>
          <a:p>
            <a:pPr algn="l">
              <a:lnSpc>
                <a:spcPts val="2609"/>
              </a:lnSpc>
            </a:pPr>
            <a:r>
              <a:rPr lang="en-US" sz="1863" spc="-18">
                <a:solidFill>
                  <a:srgbClr val="223D2D"/>
                </a:solidFill>
                <a:latin typeface="Inter"/>
                <a:ea typeface="Inter"/>
                <a:cs typeface="Inter"/>
                <a:sym typeface="Inter"/>
              </a:rPr>
              <a:t>calendar views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37246" y="6741443"/>
            <a:ext cx="2019131" cy="633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1863" spc="-18">
                <a:solidFill>
                  <a:srgbClr val="223D2D"/>
                </a:solidFill>
                <a:latin typeface="Inter"/>
                <a:ea typeface="Inter"/>
                <a:cs typeface="Inter"/>
                <a:sym typeface="Inter"/>
              </a:rPr>
              <a:t>Search and revisit</a:t>
            </a:r>
          </a:p>
          <a:p>
            <a:pPr algn="l">
              <a:lnSpc>
                <a:spcPts val="2609"/>
              </a:lnSpc>
            </a:pPr>
            <a:r>
              <a:rPr lang="en-US" sz="1863" spc="-18">
                <a:solidFill>
                  <a:srgbClr val="223D2D"/>
                </a:solidFill>
                <a:latin typeface="Inter"/>
                <a:ea typeface="Inter"/>
                <a:cs typeface="Inter"/>
                <a:sym typeface="Inter"/>
              </a:rPr>
              <a:t>saved notices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176622" y="7707051"/>
            <a:ext cx="4582938" cy="1727254"/>
          </a:xfrm>
          <a:custGeom>
            <a:avLst/>
            <a:gdLst/>
            <a:ahLst/>
            <a:cxnLst/>
            <a:rect r="r" b="b" t="t" l="l"/>
            <a:pathLst>
              <a:path h="1727254" w="4582938">
                <a:moveTo>
                  <a:pt x="0" y="0"/>
                </a:moveTo>
                <a:lnTo>
                  <a:pt x="4582938" y="0"/>
                </a:lnTo>
                <a:lnTo>
                  <a:pt x="458293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384440" y="7925691"/>
            <a:ext cx="1323474" cy="1289974"/>
          </a:xfrm>
          <a:custGeom>
            <a:avLst/>
            <a:gdLst/>
            <a:ahLst/>
            <a:cxnLst/>
            <a:rect r="r" b="b" t="t" l="l"/>
            <a:pathLst>
              <a:path h="1289974" w="1323474">
                <a:moveTo>
                  <a:pt x="0" y="0"/>
                </a:moveTo>
                <a:lnTo>
                  <a:pt x="1323474" y="0"/>
                </a:lnTo>
                <a:lnTo>
                  <a:pt x="132347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834033" y="8096919"/>
            <a:ext cx="2359154" cy="954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1863" spc="-18" b="true">
                <a:solidFill>
                  <a:srgbClr val="223D2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From information</a:t>
            </a:r>
          </a:p>
          <a:p>
            <a:pPr algn="l">
              <a:lnSpc>
                <a:spcPts val="2609"/>
              </a:lnSpc>
            </a:pPr>
            <a:r>
              <a:rPr lang="en-US" sz="1863" spc="-18" b="true">
                <a:solidFill>
                  <a:srgbClr val="223D2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to action — all in</a:t>
            </a:r>
          </a:p>
          <a:p>
            <a:pPr algn="l">
              <a:lnSpc>
                <a:spcPts val="2609"/>
              </a:lnSpc>
            </a:pPr>
            <a:r>
              <a:rPr lang="en-US" sz="1863" spc="-18" b="true">
                <a:solidFill>
                  <a:srgbClr val="223D2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one </a:t>
            </a:r>
            <a:r>
              <a:rPr lang="en-US" sz="1863" spc="-18" b="true">
                <a:solidFill>
                  <a:srgbClr val="A5B89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connected</a:t>
            </a:r>
            <a:r>
              <a:rPr lang="en-US" sz="1863" spc="-18" b="true">
                <a:solidFill>
                  <a:srgbClr val="223D2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flow.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311110" y="2142670"/>
            <a:ext cx="9373694" cy="7072996"/>
          </a:xfrm>
          <a:custGeom>
            <a:avLst/>
            <a:gdLst/>
            <a:ahLst/>
            <a:cxnLst/>
            <a:rect r="r" b="b" t="t" l="l"/>
            <a:pathLst>
              <a:path h="7072996" w="9373694">
                <a:moveTo>
                  <a:pt x="0" y="0"/>
                </a:moveTo>
                <a:lnTo>
                  <a:pt x="9373694" y="0"/>
                </a:lnTo>
                <a:lnTo>
                  <a:pt x="9373694" y="7072995"/>
                </a:lnTo>
                <a:lnTo>
                  <a:pt x="0" y="7072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840976" y="2142670"/>
            <a:ext cx="5447024" cy="6220301"/>
          </a:xfrm>
          <a:custGeom>
            <a:avLst/>
            <a:gdLst/>
            <a:ahLst/>
            <a:cxnLst/>
            <a:rect r="r" b="b" t="t" l="l"/>
            <a:pathLst>
              <a:path h="6220301" w="5447024">
                <a:moveTo>
                  <a:pt x="0" y="0"/>
                </a:moveTo>
                <a:lnTo>
                  <a:pt x="5447024" y="0"/>
                </a:lnTo>
                <a:lnTo>
                  <a:pt x="5447024" y="6220300"/>
                </a:lnTo>
                <a:lnTo>
                  <a:pt x="0" y="62203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-5400000">
            <a:off x="-891244" y="6759084"/>
            <a:ext cx="3133223" cy="50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9"/>
              </a:lnSpc>
            </a:pPr>
            <a:r>
              <a:rPr lang="en-US" b="true" sz="3849" spc="-37">
                <a:solidFill>
                  <a:srgbClr val="F5F5E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CampusLens</a:t>
            </a:r>
          </a:p>
        </p:txBody>
      </p:sp>
      <p:sp>
        <p:nvSpPr>
          <p:cNvPr name="TextBox 16" id="16"/>
          <p:cNvSpPr txBox="true"/>
          <p:nvPr/>
        </p:nvSpPr>
        <p:spPr>
          <a:xfrm rot="-5400000">
            <a:off x="-2284149" y="5258966"/>
            <a:ext cx="6065673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86">
                <a:solidFill>
                  <a:srgbClr val="7A926C"/>
                </a:solidFill>
                <a:latin typeface="Inter"/>
                <a:ea typeface="Inter"/>
                <a:cs typeface="Inter"/>
                <a:sym typeface="Inter"/>
              </a:rPr>
              <a:t>AL-POWERED CAMPUS PRODUCTIVITY ASSISTANT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531292" cy="10287000"/>
          </a:xfrm>
          <a:custGeom>
            <a:avLst/>
            <a:gdLst/>
            <a:ahLst/>
            <a:cxnLst/>
            <a:rect r="r" b="b" t="t" l="l"/>
            <a:pathLst>
              <a:path h="10287000" w="1531292">
                <a:moveTo>
                  <a:pt x="0" y="0"/>
                </a:moveTo>
                <a:lnTo>
                  <a:pt x="1531292" y="0"/>
                </a:lnTo>
                <a:lnTo>
                  <a:pt x="15312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16860" y="596680"/>
            <a:ext cx="7984334" cy="1875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8"/>
              </a:lnSpc>
            </a:pPr>
            <a:r>
              <a:rPr lang="en-US" sz="6755" spc="-336" b="true">
                <a:solidFill>
                  <a:srgbClr val="1A362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Mail Summarizer and Campus Assistant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08443" y="2580939"/>
            <a:ext cx="8826035" cy="674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1"/>
              </a:lnSpc>
            </a:pPr>
            <a:r>
              <a:rPr lang="en-US" sz="4803" spc="-239" b="true">
                <a:solidFill>
                  <a:srgbClr val="94AB8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make messages easier to act on.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176622" y="3421712"/>
            <a:ext cx="9154938" cy="3651284"/>
          </a:xfrm>
          <a:custGeom>
            <a:avLst/>
            <a:gdLst/>
            <a:ahLst/>
            <a:cxnLst/>
            <a:rect r="r" b="b" t="t" l="l"/>
            <a:pathLst>
              <a:path h="3651284" w="9154938">
                <a:moveTo>
                  <a:pt x="0" y="0"/>
                </a:moveTo>
                <a:lnTo>
                  <a:pt x="9154938" y="0"/>
                </a:lnTo>
                <a:lnTo>
                  <a:pt x="9154938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03196" y="3848060"/>
            <a:ext cx="2843828" cy="2372241"/>
          </a:xfrm>
          <a:custGeom>
            <a:avLst/>
            <a:gdLst/>
            <a:ahLst/>
            <a:cxnLst/>
            <a:rect r="r" b="b" t="t" l="l"/>
            <a:pathLst>
              <a:path h="2372241" w="2843828">
                <a:moveTo>
                  <a:pt x="0" y="0"/>
                </a:moveTo>
                <a:lnTo>
                  <a:pt x="2843828" y="0"/>
                </a:lnTo>
                <a:lnTo>
                  <a:pt x="284382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17330" y="4919394"/>
            <a:ext cx="2843828" cy="229572"/>
          </a:xfrm>
          <a:custGeom>
            <a:avLst/>
            <a:gdLst/>
            <a:ahLst/>
            <a:cxnLst/>
            <a:rect r="r" b="b" t="t" l="l"/>
            <a:pathLst>
              <a:path h="229572" w="2843828">
                <a:moveTo>
                  <a:pt x="0" y="0"/>
                </a:moveTo>
                <a:lnTo>
                  <a:pt x="2843828" y="0"/>
                </a:lnTo>
                <a:lnTo>
                  <a:pt x="284382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092354" y="4493047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831464" y="3848060"/>
            <a:ext cx="2625072" cy="2372241"/>
          </a:xfrm>
          <a:custGeom>
            <a:avLst/>
            <a:gdLst/>
            <a:ahLst/>
            <a:cxnLst/>
            <a:rect r="r" b="b" t="t" l="l"/>
            <a:pathLst>
              <a:path h="2372241" w="2625072">
                <a:moveTo>
                  <a:pt x="0" y="0"/>
                </a:moveTo>
                <a:lnTo>
                  <a:pt x="2625072" y="0"/>
                </a:lnTo>
                <a:lnTo>
                  <a:pt x="2625072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64068" y="3966995"/>
            <a:ext cx="1375186" cy="1800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5"/>
              </a:lnSpc>
            </a:pPr>
            <a:r>
              <a:rPr lang="en-US" sz="1494" spc="-59" b="true">
                <a:solidFill>
                  <a:srgbClr val="516051"/>
                </a:solidFill>
                <a:latin typeface="Inter Bold"/>
                <a:ea typeface="Inter Bold"/>
                <a:cs typeface="Inter Bold"/>
                <a:sym typeface="Inter Bold"/>
              </a:rPr>
              <a:t>key information</a:t>
            </a:r>
          </a:p>
          <a:p>
            <a:pPr algn="l">
              <a:lnSpc>
                <a:spcPts val="3735"/>
              </a:lnSpc>
            </a:pPr>
            <a:r>
              <a:rPr lang="en-US" sz="1494" spc="-59" b="true">
                <a:solidFill>
                  <a:srgbClr val="516051"/>
                </a:solidFill>
                <a:latin typeface="Inter Bold"/>
                <a:ea typeface="Inter Bold"/>
                <a:cs typeface="Inter Bold"/>
                <a:sym typeface="Inter Bold"/>
              </a:rPr>
              <a:t>priority</a:t>
            </a:r>
          </a:p>
          <a:p>
            <a:pPr algn="l">
              <a:lnSpc>
                <a:spcPts val="3735"/>
              </a:lnSpc>
            </a:pPr>
            <a:r>
              <a:rPr lang="en-US" sz="1494" spc="-59" b="true">
                <a:solidFill>
                  <a:srgbClr val="516051"/>
                </a:solidFill>
                <a:latin typeface="Inter Bold"/>
                <a:ea typeface="Inter Bold"/>
                <a:cs typeface="Inter Bold"/>
                <a:sym typeface="Inter Bold"/>
              </a:rPr>
              <a:t>deadlines</a:t>
            </a:r>
          </a:p>
          <a:p>
            <a:pPr algn="l">
              <a:lnSpc>
                <a:spcPts val="3735"/>
              </a:lnSpc>
            </a:pPr>
            <a:r>
              <a:rPr lang="en-US" sz="1494" spc="-59" b="true">
                <a:solidFill>
                  <a:srgbClr val="516051"/>
                </a:solidFill>
                <a:latin typeface="Inter Bold"/>
                <a:ea typeface="Inter Bold"/>
                <a:cs typeface="Inter Bold"/>
                <a:sym typeface="Inter Bold"/>
              </a:rPr>
              <a:t>action items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050220" y="4285339"/>
            <a:ext cx="1968804" cy="1716322"/>
          </a:xfrm>
          <a:custGeom>
            <a:avLst/>
            <a:gdLst/>
            <a:ahLst/>
            <a:cxnLst/>
            <a:rect r="r" b="b" t="t" l="l"/>
            <a:pathLst>
              <a:path h="1716322" w="1968804">
                <a:moveTo>
                  <a:pt x="0" y="0"/>
                </a:moveTo>
                <a:lnTo>
                  <a:pt x="1968804" y="0"/>
                </a:lnTo>
                <a:lnTo>
                  <a:pt x="196880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76918" y="7308884"/>
            <a:ext cx="1978463" cy="356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9"/>
              </a:lnSpc>
            </a:pPr>
            <a:r>
              <a:rPr lang="en-US" sz="1986" spc="-79" b="true">
                <a:solidFill>
                  <a:srgbClr val="1A362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Mail Summarizer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42707" y="7741340"/>
            <a:ext cx="5399599" cy="65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74" b="true">
                <a:solidFill>
                  <a:srgbClr val="516051"/>
                </a:solidFill>
                <a:latin typeface="Inter Medium"/>
                <a:ea typeface="Inter Medium"/>
                <a:cs typeface="Inter Medium"/>
                <a:sym typeface="Inter Medium"/>
              </a:rPr>
              <a:t>condenses email content and highlights key details, priority, deadlines, and action items when available.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46958" y="9066694"/>
            <a:ext cx="4974494" cy="65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74" b="true">
                <a:solidFill>
                  <a:srgbClr val="516051"/>
                </a:solidFill>
                <a:latin typeface="Inter Medium"/>
                <a:ea typeface="Inter Medium"/>
                <a:cs typeface="Inter Medium"/>
                <a:sym typeface="Inter Medium"/>
              </a:rPr>
              <a:t>answers your questions about tasks, deadlines, and the information you’ve saved.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747196" y="2142670"/>
            <a:ext cx="5895474" cy="7510275"/>
          </a:xfrm>
          <a:custGeom>
            <a:avLst/>
            <a:gdLst/>
            <a:ahLst/>
            <a:cxnLst/>
            <a:rect r="r" b="b" t="t" l="l"/>
            <a:pathLst>
              <a:path h="7510275" w="5895474">
                <a:moveTo>
                  <a:pt x="0" y="0"/>
                </a:moveTo>
                <a:lnTo>
                  <a:pt x="5895474" y="0"/>
                </a:lnTo>
                <a:lnTo>
                  <a:pt x="5895474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923818" y="2995365"/>
            <a:ext cx="3500096" cy="1300906"/>
          </a:xfrm>
          <a:custGeom>
            <a:avLst/>
            <a:gdLst/>
            <a:ahLst/>
            <a:cxnLst/>
            <a:rect r="r" b="b" t="t" l="l"/>
            <a:pathLst>
              <a:path h="1300906" w="3500096">
                <a:moveTo>
                  <a:pt x="0" y="0"/>
                </a:moveTo>
                <a:lnTo>
                  <a:pt x="3500096" y="0"/>
                </a:lnTo>
                <a:lnTo>
                  <a:pt x="350009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311272" y="3318319"/>
            <a:ext cx="2087601" cy="56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546" spc="-61" b="true">
                <a:solidFill>
                  <a:srgbClr val="516051"/>
                </a:solidFill>
                <a:latin typeface="Inter Medium"/>
                <a:ea typeface="Inter Medium"/>
                <a:cs typeface="Inter Medium"/>
                <a:sym typeface="Inter Medium"/>
              </a:rPr>
              <a:t>What are my upcoming deadlines this week?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184708" y="4285339"/>
            <a:ext cx="3926670" cy="1716322"/>
          </a:xfrm>
          <a:custGeom>
            <a:avLst/>
            <a:gdLst/>
            <a:ahLst/>
            <a:cxnLst/>
            <a:rect r="r" b="b" t="t" l="l"/>
            <a:pathLst>
              <a:path h="1716322" w="3926670">
                <a:moveTo>
                  <a:pt x="0" y="0"/>
                </a:moveTo>
                <a:lnTo>
                  <a:pt x="3926670" y="0"/>
                </a:lnTo>
                <a:lnTo>
                  <a:pt x="3926670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667897" y="4538247"/>
            <a:ext cx="3011875" cy="1140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546" spc="-61" b="true">
                <a:solidFill>
                  <a:srgbClr val="516051"/>
                </a:solidFill>
                <a:latin typeface="Inter Medium"/>
                <a:ea typeface="Inter Medium"/>
                <a:cs typeface="Inter Medium"/>
                <a:sym typeface="Inter Medium"/>
              </a:rPr>
              <a:t>You have 3 deadlines this week: Project proposal on Wednesday, Lab report on Friday, and Reading response on Sunday.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3923818" y="6209369"/>
            <a:ext cx="3500096" cy="1082267"/>
          </a:xfrm>
          <a:custGeom>
            <a:avLst/>
            <a:gdLst/>
            <a:ahLst/>
            <a:cxnLst/>
            <a:rect r="r" b="b" t="t" l="l"/>
            <a:pathLst>
              <a:path h="1082267" w="3500096">
                <a:moveTo>
                  <a:pt x="0" y="0"/>
                </a:moveTo>
                <a:lnTo>
                  <a:pt x="3500096" y="0"/>
                </a:lnTo>
                <a:lnTo>
                  <a:pt x="350009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4308130" y="6405791"/>
            <a:ext cx="2401840" cy="56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546" spc="-61" b="true">
                <a:solidFill>
                  <a:srgbClr val="516051"/>
                </a:solidFill>
                <a:latin typeface="Inter Medium"/>
                <a:ea typeface="Inter Medium"/>
                <a:cs typeface="Inter Medium"/>
                <a:sym typeface="Inter Medium"/>
              </a:rPr>
              <a:t>What did my professor say about the proposal?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2184708" y="7280704"/>
            <a:ext cx="3926670" cy="1508614"/>
          </a:xfrm>
          <a:custGeom>
            <a:avLst/>
            <a:gdLst/>
            <a:ahLst/>
            <a:cxnLst/>
            <a:rect r="r" b="b" t="t" l="l"/>
            <a:pathLst>
              <a:path h="1508614" w="3926670">
                <a:moveTo>
                  <a:pt x="0" y="0"/>
                </a:moveTo>
                <a:lnTo>
                  <a:pt x="3926670" y="0"/>
                </a:lnTo>
                <a:lnTo>
                  <a:pt x="392667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674571" y="7640781"/>
            <a:ext cx="2344473" cy="85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546" spc="-61" b="true">
                <a:solidFill>
                  <a:srgbClr val="516051"/>
                </a:solidFill>
                <a:latin typeface="Inter Medium"/>
                <a:ea typeface="Inter Medium"/>
                <a:cs typeface="Inter Medium"/>
                <a:sym typeface="Inter Medium"/>
              </a:rPr>
              <a:t>Your professor requested more detail on the timeline and success metrics.</a:t>
            </a:r>
          </a:p>
        </p:txBody>
      </p:sp>
      <p:sp>
        <p:nvSpPr>
          <p:cNvPr name="TextBox 25" id="25"/>
          <p:cNvSpPr txBox="true"/>
          <p:nvPr/>
        </p:nvSpPr>
        <p:spPr>
          <a:xfrm rot="-5400000">
            <a:off x="-2446516" y="5214550"/>
            <a:ext cx="6128469" cy="31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b="true" sz="1740" spc="86">
                <a:solidFill>
                  <a:srgbClr val="94AB82"/>
                </a:solidFill>
                <a:latin typeface="Inter Medium"/>
                <a:ea typeface="Inter Medium"/>
                <a:cs typeface="Inter Medium"/>
                <a:sym typeface="Inter Medium"/>
              </a:rPr>
              <a:t>AI-POWERED CAMPUS PRODUCTIVITY ASSISTANT</a:t>
            </a:r>
          </a:p>
        </p:txBody>
      </p:sp>
      <p:sp>
        <p:nvSpPr>
          <p:cNvPr name="TextBox 26" id="26"/>
          <p:cNvSpPr txBox="true"/>
          <p:nvPr/>
        </p:nvSpPr>
        <p:spPr>
          <a:xfrm rot="-5400000">
            <a:off x="-1038985" y="6601778"/>
            <a:ext cx="3031805" cy="66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0"/>
              </a:lnSpc>
            </a:pPr>
            <a:r>
              <a:rPr lang="en-US" sz="3713" b="true">
                <a:solidFill>
                  <a:srgbClr val="F8F8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CampusLens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74857" y="8656006"/>
            <a:ext cx="2184569" cy="36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spc="-81" b="true">
                <a:solidFill>
                  <a:srgbClr val="1A3624"/>
                </a:solidFill>
                <a:latin typeface="Inter Bold"/>
                <a:ea typeface="Inter Bold"/>
                <a:cs typeface="Inter Bold"/>
                <a:sym typeface="Inter Bold"/>
              </a:rPr>
              <a:t>Campus Assistant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77661" y="2580449"/>
            <a:ext cx="1851830" cy="31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spc="-69" b="true">
                <a:solidFill>
                  <a:srgbClr val="1A362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Campus Assistant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258242" y="6330487"/>
            <a:ext cx="1957853" cy="28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546" spc="-61" b="true">
                <a:solidFill>
                  <a:srgbClr val="516051"/>
                </a:solidFill>
                <a:latin typeface="Inter Bold"/>
                <a:ea typeface="Inter Bold"/>
                <a:cs typeface="Inter Bold"/>
                <a:sym typeface="Inter Bold"/>
              </a:rPr>
              <a:t>condensed summary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077742" y="9066805"/>
            <a:ext cx="2064327" cy="25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1"/>
              </a:lnSpc>
            </a:pPr>
            <a:r>
              <a:rPr lang="en-US" b="true" sz="1494" i="true" spc="-59">
                <a:solidFill>
                  <a:srgbClr val="86AD9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Illustration, not actual UI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281124" y="6330487"/>
            <a:ext cx="1393076" cy="28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546" spc="-61" b="true">
                <a:solidFill>
                  <a:srgbClr val="516051"/>
                </a:solidFill>
                <a:latin typeface="Inter Bold"/>
                <a:ea typeface="Inter Bold"/>
                <a:cs typeface="Inter Bold"/>
                <a:sym typeface="Inter Bold"/>
              </a:rPr>
              <a:t>incoming email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750048" cy="10287000"/>
          </a:xfrm>
          <a:custGeom>
            <a:avLst/>
            <a:gdLst/>
            <a:ahLst/>
            <a:cxnLst/>
            <a:rect r="r" b="b" t="t" l="l"/>
            <a:pathLst>
              <a:path h="10287000" w="1750048">
                <a:moveTo>
                  <a:pt x="0" y="0"/>
                </a:moveTo>
                <a:lnTo>
                  <a:pt x="1750048" y="0"/>
                </a:lnTo>
                <a:lnTo>
                  <a:pt x="175004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01643" y="870543"/>
            <a:ext cx="5763014" cy="210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5"/>
              </a:lnSpc>
            </a:pPr>
            <a:r>
              <a:rPr lang="en-US" sz="7854" spc="-76" b="true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Built around </a:t>
            </a:r>
            <a:r>
              <a:rPr lang="en-US" sz="7854" spc="-76" b="true">
                <a:solidFill>
                  <a:srgbClr val="99AD8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Gemma 4.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603196" y="3421712"/>
            <a:ext cx="2187560" cy="2798589"/>
          </a:xfrm>
          <a:custGeom>
            <a:avLst/>
            <a:gdLst/>
            <a:ahLst/>
            <a:cxnLst/>
            <a:rect r="r" b="b" t="t" l="l"/>
            <a:pathLst>
              <a:path h="2798589" w="2187560">
                <a:moveTo>
                  <a:pt x="0" y="0"/>
                </a:moveTo>
                <a:lnTo>
                  <a:pt x="2187560" y="0"/>
                </a:lnTo>
                <a:lnTo>
                  <a:pt x="2187560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59464" y="4066699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85323" y="5201156"/>
            <a:ext cx="1344221" cy="468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4"/>
              </a:lnSpc>
            </a:pPr>
            <a:r>
              <a:rPr lang="en-US" b="true" sz="2759" spc="-26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Student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779818" y="4493047"/>
            <a:ext cx="885962" cy="655919"/>
          </a:xfrm>
          <a:custGeom>
            <a:avLst/>
            <a:gdLst/>
            <a:ahLst/>
            <a:cxnLst/>
            <a:rect r="r" b="b" t="t" l="l"/>
            <a:pathLst>
              <a:path h="655919" w="885962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654842" y="3421712"/>
            <a:ext cx="3062584" cy="2798589"/>
          </a:xfrm>
          <a:custGeom>
            <a:avLst/>
            <a:gdLst/>
            <a:ahLst/>
            <a:cxnLst/>
            <a:rect r="r" b="b" t="t" l="l"/>
            <a:pathLst>
              <a:path h="2798589" w="3062584">
                <a:moveTo>
                  <a:pt x="0" y="0"/>
                </a:moveTo>
                <a:lnTo>
                  <a:pt x="3062584" y="0"/>
                </a:lnTo>
                <a:lnTo>
                  <a:pt x="3062584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092240" y="3959091"/>
            <a:ext cx="2123023" cy="1271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1"/>
              </a:lnSpc>
            </a:pPr>
            <a:r>
              <a:rPr lang="en-US" b="true" sz="2601" spc="-25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React +</a:t>
            </a:r>
          </a:p>
          <a:p>
            <a:pPr algn="ctr">
              <a:lnSpc>
                <a:spcPts val="3381"/>
              </a:lnSpc>
            </a:pPr>
            <a:r>
              <a:rPr lang="en-US" b="true" sz="2601" spc="-25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TypeScript +</a:t>
            </a:r>
          </a:p>
          <a:p>
            <a:pPr algn="ctr">
              <a:lnSpc>
                <a:spcPts val="3381"/>
              </a:lnSpc>
            </a:pPr>
            <a:r>
              <a:rPr lang="en-US" b="true" sz="2601" spc="-25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Vite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63067" y="5523016"/>
            <a:ext cx="1181369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sz="2311" spc="-22">
                <a:solidFill>
                  <a:srgbClr val="3B4C42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706488" y="4493047"/>
            <a:ext cx="875024" cy="655919"/>
          </a:xfrm>
          <a:custGeom>
            <a:avLst/>
            <a:gdLst/>
            <a:ahLst/>
            <a:cxnLst/>
            <a:rect r="r" b="b" t="t" l="l"/>
            <a:pathLst>
              <a:path h="655919" w="875024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570574" y="3421712"/>
            <a:ext cx="3281340" cy="3017228"/>
          </a:xfrm>
          <a:custGeom>
            <a:avLst/>
            <a:gdLst/>
            <a:ahLst/>
            <a:cxnLst/>
            <a:rect r="r" b="b" t="t" l="l"/>
            <a:pathLst>
              <a:path h="3017228" w="3281340">
                <a:moveTo>
                  <a:pt x="0" y="0"/>
                </a:moveTo>
                <a:lnTo>
                  <a:pt x="3281340" y="0"/>
                </a:lnTo>
                <a:lnTo>
                  <a:pt x="3281340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394627" y="4147104"/>
            <a:ext cx="1424772" cy="88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6"/>
              </a:lnSpc>
            </a:pPr>
            <a:r>
              <a:rPr lang="en-US" b="true" sz="2575" spc="-25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Python + FastAPI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08693" y="5297104"/>
            <a:ext cx="1196640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sz="2311" spc="-22">
                <a:solidFill>
                  <a:srgbClr val="3B4C42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883110" y="6209369"/>
            <a:ext cx="448450" cy="1300906"/>
          </a:xfrm>
          <a:custGeom>
            <a:avLst/>
            <a:gdLst/>
            <a:ahLst/>
            <a:cxnLst/>
            <a:rect r="r" b="b" t="t" l="l"/>
            <a:pathLst>
              <a:path h="1300906" w="448450">
                <a:moveTo>
                  <a:pt x="0" y="0"/>
                </a:moveTo>
                <a:lnTo>
                  <a:pt x="448450" y="0"/>
                </a:lnTo>
                <a:lnTo>
                  <a:pt x="44845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570574" y="7280704"/>
            <a:ext cx="3281340" cy="2372241"/>
          </a:xfrm>
          <a:custGeom>
            <a:avLst/>
            <a:gdLst/>
            <a:ahLst/>
            <a:cxnLst/>
            <a:rect r="r" b="b" t="t" l="l"/>
            <a:pathLst>
              <a:path h="2372241" w="3281340">
                <a:moveTo>
                  <a:pt x="0" y="0"/>
                </a:moveTo>
                <a:lnTo>
                  <a:pt x="3281340" y="0"/>
                </a:lnTo>
                <a:lnTo>
                  <a:pt x="328134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135860" y="7754423"/>
            <a:ext cx="1930519" cy="8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1"/>
              </a:lnSpc>
            </a:pPr>
            <a:r>
              <a:rPr lang="en-US" b="true" sz="2601" spc="-25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Local JSON persistence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42176" y="8715915"/>
            <a:ext cx="1517887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sz="2311" spc="-22">
                <a:solidFill>
                  <a:srgbClr val="3B4C42"/>
                </a:solidFill>
                <a:latin typeface="Inter"/>
                <a:ea typeface="Inter"/>
                <a:cs typeface="Inter"/>
                <a:sym typeface="Inter"/>
              </a:rPr>
              <a:t>saved data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2622220" y="4493047"/>
            <a:ext cx="885962" cy="655919"/>
          </a:xfrm>
          <a:custGeom>
            <a:avLst/>
            <a:gdLst/>
            <a:ahLst/>
            <a:cxnLst/>
            <a:rect r="r" b="b" t="t" l="l"/>
            <a:pathLst>
              <a:path h="655919" w="885962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497244" y="3421712"/>
            <a:ext cx="3489158" cy="3017228"/>
          </a:xfrm>
          <a:custGeom>
            <a:avLst/>
            <a:gdLst/>
            <a:ahLst/>
            <a:cxnLst/>
            <a:rect r="r" b="b" t="t" l="l"/>
            <a:pathLst>
              <a:path h="3017228" w="3489158">
                <a:moveTo>
                  <a:pt x="0" y="0"/>
                </a:moveTo>
                <a:lnTo>
                  <a:pt x="3489158" y="0"/>
                </a:lnTo>
                <a:lnTo>
                  <a:pt x="3489158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4459511" y="3996495"/>
            <a:ext cx="1729808" cy="88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6"/>
              </a:lnSpc>
            </a:pPr>
            <a:r>
              <a:rPr lang="en-US" b="true" sz="2575" spc="-25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Google</a:t>
            </a:r>
          </a:p>
          <a:p>
            <a:pPr algn="ctr">
              <a:lnSpc>
                <a:spcPts val="3606"/>
              </a:lnSpc>
            </a:pPr>
            <a:r>
              <a:rPr lang="en-US" b="true" sz="2575" spc="-25">
                <a:solidFill>
                  <a:srgbClr val="2940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Gemini API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689211" y="5116841"/>
            <a:ext cx="3295055" cy="835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2"/>
              </a:lnSpc>
            </a:pPr>
            <a:r>
              <a:rPr lang="en-US" sz="2321" spc="-22">
                <a:solidFill>
                  <a:srgbClr val="3B4C42"/>
                </a:solidFill>
                <a:latin typeface="Inter"/>
                <a:ea typeface="Inter"/>
                <a:cs typeface="Inter"/>
                <a:sym typeface="Inter"/>
              </a:rPr>
              <a:t>model</a:t>
            </a:r>
          </a:p>
          <a:p>
            <a:pPr algn="ctr">
              <a:lnSpc>
                <a:spcPts val="3482"/>
              </a:lnSpc>
            </a:pPr>
            <a:r>
              <a:rPr lang="en-US" b="true" sz="2321" spc="-22">
                <a:solidFill>
                  <a:srgbClr val="99AD8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gemma-4-26b-a4b-it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42353" y="7371929"/>
            <a:ext cx="4370958" cy="1581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4"/>
              </a:lnSpc>
            </a:pPr>
            <a:r>
              <a:rPr lang="en-US" sz="2896" spc="-28">
                <a:solidFill>
                  <a:srgbClr val="3B4C42"/>
                </a:solidFill>
                <a:latin typeface="Inter"/>
                <a:ea typeface="Inter"/>
                <a:cs typeface="Inter"/>
                <a:sym typeface="Inter"/>
              </a:rPr>
              <a:t>The backend coordinates AI analysis and powers every app operation.</a:t>
            </a:r>
          </a:p>
        </p:txBody>
      </p:sp>
      <p:sp>
        <p:nvSpPr>
          <p:cNvPr name="TextBox 25" id="25"/>
          <p:cNvSpPr txBox="true"/>
          <p:nvPr/>
        </p:nvSpPr>
        <p:spPr>
          <a:xfrm rot="-5400000">
            <a:off x="-784284" y="6668732"/>
            <a:ext cx="2985475" cy="505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8"/>
              </a:lnSpc>
            </a:pPr>
            <a:r>
              <a:rPr lang="en-US" b="true" sz="3713" spc="-36">
                <a:solidFill>
                  <a:srgbClr val="F5F5E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CampusLens</a:t>
            </a:r>
          </a:p>
        </p:txBody>
      </p:sp>
      <p:sp>
        <p:nvSpPr>
          <p:cNvPr name="TextBox 26" id="26"/>
          <p:cNvSpPr txBox="true"/>
          <p:nvPr/>
        </p:nvSpPr>
        <p:spPr>
          <a:xfrm rot="-5400000">
            <a:off x="-1945484" y="5219870"/>
            <a:ext cx="6401074" cy="31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863" spc="92">
                <a:solidFill>
                  <a:srgbClr val="99AD8B"/>
                </a:solidFill>
                <a:latin typeface="Inter"/>
                <a:ea typeface="Inter"/>
                <a:cs typeface="Inter"/>
                <a:sym typeface="Inter"/>
              </a:rPr>
              <a:t>AI-POWERED CAMPUS PRODUCTIVITY ASSISTANT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968804" cy="10287000"/>
          </a:xfrm>
          <a:custGeom>
            <a:avLst/>
            <a:gdLst/>
            <a:ahLst/>
            <a:cxnLst/>
            <a:rect r="r" b="b" t="t" l="l"/>
            <a:pathLst>
              <a:path h="10287000" w="1968804">
                <a:moveTo>
                  <a:pt x="0" y="0"/>
                </a:moveTo>
                <a:lnTo>
                  <a:pt x="1968804" y="0"/>
                </a:lnTo>
                <a:lnTo>
                  <a:pt x="196880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54790" y="922502"/>
            <a:ext cx="11696026" cy="2015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7"/>
              </a:lnSpc>
            </a:pPr>
            <a:r>
              <a:rPr lang="en-US" sz="7264" spc="-145" b="true">
                <a:solidFill>
                  <a:srgbClr val="2B3D2C"/>
                </a:solidFill>
                <a:latin typeface="Inter Bold"/>
                <a:ea typeface="Inter Bold"/>
                <a:cs typeface="Inter Bold"/>
                <a:sym typeface="Inter Bold"/>
              </a:rPr>
              <a:t>Useful AI,</a:t>
            </a:r>
          </a:p>
          <a:p>
            <a:pPr algn="l">
              <a:lnSpc>
                <a:spcPts val="7987"/>
              </a:lnSpc>
            </a:pPr>
            <a:r>
              <a:rPr lang="en-US" sz="7264" spc="-145" b="true">
                <a:solidFill>
                  <a:srgbClr val="2B3D2C"/>
                </a:solidFill>
                <a:latin typeface="Inter Bold"/>
                <a:ea typeface="Inter Bold"/>
                <a:cs typeface="Inter Bold"/>
                <a:sym typeface="Inter Bold"/>
              </a:rPr>
              <a:t>with the student in </a:t>
            </a:r>
            <a:r>
              <a:rPr lang="en-US" sz="7264" spc="-145" b="true">
                <a:solidFill>
                  <a:srgbClr val="A7B492"/>
                </a:solidFill>
                <a:latin typeface="Inter Bold"/>
                <a:ea typeface="Inter Bold"/>
                <a:cs typeface="Inter Bold"/>
                <a:sym typeface="Inter Bold"/>
              </a:rPr>
              <a:t>control.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33711" y="3670533"/>
            <a:ext cx="3803877" cy="835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92" b="true">
                <a:solidFill>
                  <a:srgbClr val="415246"/>
                </a:solidFill>
                <a:latin typeface="Inter Medium"/>
                <a:ea typeface="Inter Medium"/>
                <a:cs typeface="Inter Medium"/>
                <a:sym typeface="Inter Medium"/>
              </a:rPr>
              <a:t>Review and edit AI-extracted details before saving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384440" y="4711687"/>
            <a:ext cx="4375120" cy="218640"/>
          </a:xfrm>
          <a:custGeom>
            <a:avLst/>
            <a:gdLst/>
            <a:ahLst/>
            <a:cxnLst/>
            <a:rect r="r" b="b" t="t" l="l"/>
            <a:pathLst>
              <a:path h="218640" w="4375120">
                <a:moveTo>
                  <a:pt x="0" y="0"/>
                </a:moveTo>
                <a:lnTo>
                  <a:pt x="4375120" y="0"/>
                </a:lnTo>
                <a:lnTo>
                  <a:pt x="437512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32368" y="4935644"/>
            <a:ext cx="3938184" cy="835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92" b="true">
                <a:solidFill>
                  <a:srgbClr val="415246"/>
                </a:solidFill>
                <a:latin typeface="Inter Medium"/>
                <a:ea typeface="Inter Medium"/>
                <a:cs typeface="Inter Medium"/>
                <a:sym typeface="Inter Medium"/>
              </a:rPr>
              <a:t>Verify AI-generated deadlines and actions carefully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384440" y="5990729"/>
            <a:ext cx="4375120" cy="229572"/>
          </a:xfrm>
          <a:custGeom>
            <a:avLst/>
            <a:gdLst/>
            <a:ahLst/>
            <a:cxnLst/>
            <a:rect r="r" b="b" t="t" l="l"/>
            <a:pathLst>
              <a:path h="229572" w="4375120">
                <a:moveTo>
                  <a:pt x="0" y="0"/>
                </a:moveTo>
                <a:lnTo>
                  <a:pt x="4375120" y="0"/>
                </a:lnTo>
                <a:lnTo>
                  <a:pt x="437512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33769" y="6185694"/>
            <a:ext cx="3798101" cy="835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92" b="true">
                <a:solidFill>
                  <a:srgbClr val="415246"/>
                </a:solidFill>
                <a:latin typeface="Inter Medium"/>
                <a:ea typeface="Inter Medium"/>
                <a:cs typeface="Inter Medium"/>
                <a:sym typeface="Inter Medium"/>
              </a:rPr>
              <a:t>Uses local JSON persistence for data storage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384440" y="7062064"/>
            <a:ext cx="4375120" cy="229572"/>
          </a:xfrm>
          <a:custGeom>
            <a:avLst/>
            <a:gdLst/>
            <a:ahLst/>
            <a:cxnLst/>
            <a:rect r="r" b="b" t="t" l="l"/>
            <a:pathLst>
              <a:path h="229572" w="4375120">
                <a:moveTo>
                  <a:pt x="0" y="0"/>
                </a:moveTo>
                <a:lnTo>
                  <a:pt x="4375120" y="0"/>
                </a:lnTo>
                <a:lnTo>
                  <a:pt x="437512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535864" y="7435743"/>
            <a:ext cx="3588621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92" b="true">
                <a:solidFill>
                  <a:srgbClr val="415246"/>
                </a:solidFill>
                <a:latin typeface="Inter Medium"/>
                <a:ea typeface="Inter Medium"/>
                <a:cs typeface="Inter Medium"/>
                <a:sym typeface="Inter Medium"/>
              </a:rPr>
              <a:t>API credentials kept private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384440" y="7925691"/>
            <a:ext cx="4375120" cy="218640"/>
          </a:xfrm>
          <a:custGeom>
            <a:avLst/>
            <a:gdLst/>
            <a:ahLst/>
            <a:cxnLst/>
            <a:rect r="r" b="b" t="t" l="l"/>
            <a:pathLst>
              <a:path h="218640" w="4375120">
                <a:moveTo>
                  <a:pt x="0" y="0"/>
                </a:moveTo>
                <a:lnTo>
                  <a:pt x="4375120" y="0"/>
                </a:lnTo>
                <a:lnTo>
                  <a:pt x="437512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533280" y="8264090"/>
            <a:ext cx="3847014" cy="835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92" b="true">
                <a:solidFill>
                  <a:srgbClr val="415246"/>
                </a:solidFill>
                <a:latin typeface="Inter Medium"/>
                <a:ea typeface="Inter Medium"/>
                <a:cs typeface="Inter Medium"/>
                <a:sym typeface="Inter Medium"/>
              </a:rPr>
              <a:t>Backend tests, frontend build passed, and demoed locally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393952" y="4066699"/>
            <a:ext cx="3062584" cy="4296271"/>
          </a:xfrm>
          <a:custGeom>
            <a:avLst/>
            <a:gdLst/>
            <a:ahLst/>
            <a:cxnLst/>
            <a:rect r="r" b="b" t="t" l="l"/>
            <a:pathLst>
              <a:path h="4296271" w="3062584">
                <a:moveTo>
                  <a:pt x="0" y="0"/>
                </a:moveTo>
                <a:lnTo>
                  <a:pt x="3062584" y="0"/>
                </a:lnTo>
                <a:lnTo>
                  <a:pt x="3062584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050220" y="4285339"/>
            <a:ext cx="1750048" cy="1934962"/>
          </a:xfrm>
          <a:custGeom>
            <a:avLst/>
            <a:gdLst/>
            <a:ahLst/>
            <a:cxnLst/>
            <a:rect r="r" b="b" t="t" l="l"/>
            <a:pathLst>
              <a:path h="1934962" w="1750048">
                <a:moveTo>
                  <a:pt x="0" y="0"/>
                </a:moveTo>
                <a:lnTo>
                  <a:pt x="1750048" y="0"/>
                </a:lnTo>
                <a:lnTo>
                  <a:pt x="175004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829664" y="6459927"/>
            <a:ext cx="2160221" cy="106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3"/>
              </a:lnSpc>
            </a:pPr>
            <a:r>
              <a:rPr lang="en-US" b="true" sz="1955" spc="-78">
                <a:solidFill>
                  <a:srgbClr val="41524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Review &amp; edit</a:t>
            </a:r>
          </a:p>
          <a:p>
            <a:pPr algn="ctr">
              <a:lnSpc>
                <a:spcPts val="2933"/>
              </a:lnSpc>
            </a:pPr>
            <a:r>
              <a:rPr lang="en-US" b="true" sz="1955" spc="-78">
                <a:solidFill>
                  <a:srgbClr val="415246"/>
                </a:solidFill>
                <a:latin typeface="Inter Medium"/>
                <a:ea typeface="Inter Medium"/>
                <a:cs typeface="Inter Medium"/>
                <a:sym typeface="Inter Medium"/>
              </a:rPr>
              <a:t>check and refine</a:t>
            </a:r>
          </a:p>
          <a:p>
            <a:pPr algn="ctr">
              <a:lnSpc>
                <a:spcPts val="2933"/>
              </a:lnSpc>
            </a:pPr>
            <a:r>
              <a:rPr lang="en-US" b="true" sz="1955" spc="-78">
                <a:solidFill>
                  <a:srgbClr val="415246"/>
                </a:solidFill>
                <a:latin typeface="Inter Medium"/>
                <a:ea typeface="Inter Medium"/>
                <a:cs typeface="Inter Medium"/>
                <a:sym typeface="Inter Medium"/>
              </a:rPr>
              <a:t>AI-extracted details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226842" y="5138034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883110" y="4066699"/>
            <a:ext cx="3051646" cy="4296271"/>
          </a:xfrm>
          <a:custGeom>
            <a:avLst/>
            <a:gdLst/>
            <a:ahLst/>
            <a:cxnLst/>
            <a:rect r="r" b="b" t="t" l="l"/>
            <a:pathLst>
              <a:path h="4296271" w="3051646">
                <a:moveTo>
                  <a:pt x="0" y="0"/>
                </a:moveTo>
                <a:lnTo>
                  <a:pt x="3051646" y="0"/>
                </a:lnTo>
                <a:lnTo>
                  <a:pt x="3051646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528440" y="4285339"/>
            <a:ext cx="1760986" cy="1934962"/>
          </a:xfrm>
          <a:custGeom>
            <a:avLst/>
            <a:gdLst/>
            <a:ahLst/>
            <a:cxnLst/>
            <a:rect r="r" b="b" t="t" l="l"/>
            <a:pathLst>
              <a:path h="1934962" w="1760986">
                <a:moveTo>
                  <a:pt x="0" y="0"/>
                </a:moveTo>
                <a:lnTo>
                  <a:pt x="1760986" y="0"/>
                </a:lnTo>
                <a:lnTo>
                  <a:pt x="1760986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378500" y="6459927"/>
            <a:ext cx="2002524" cy="106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3"/>
              </a:lnSpc>
            </a:pPr>
            <a:r>
              <a:rPr lang="en-US" b="true" sz="1955" spc="-78">
                <a:solidFill>
                  <a:srgbClr val="41524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Save securely</a:t>
            </a:r>
          </a:p>
          <a:p>
            <a:pPr algn="ctr">
              <a:lnSpc>
                <a:spcPts val="2933"/>
              </a:lnSpc>
            </a:pPr>
            <a:r>
              <a:rPr lang="en-US" b="true" sz="1955" spc="-78">
                <a:solidFill>
                  <a:srgbClr val="415246"/>
                </a:solidFill>
                <a:latin typeface="Inter Medium"/>
                <a:ea typeface="Inter Medium"/>
                <a:cs typeface="Inter Medium"/>
                <a:sym typeface="Inter Medium"/>
              </a:rPr>
              <a:t>store locally using</a:t>
            </a:r>
          </a:p>
          <a:p>
            <a:pPr algn="ctr">
              <a:lnSpc>
                <a:spcPts val="2933"/>
              </a:lnSpc>
            </a:pPr>
            <a:r>
              <a:rPr lang="en-US" b="true" sz="1955" spc="-78">
                <a:solidFill>
                  <a:srgbClr val="415246"/>
                </a:solidFill>
                <a:latin typeface="Inter Medium"/>
                <a:ea typeface="Inter Medium"/>
                <a:cs typeface="Inter Medium"/>
                <a:sym typeface="Inter Medium"/>
              </a:rPr>
              <a:t>JSON persistence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3716000" y="5138034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361330" y="4066699"/>
            <a:ext cx="3062584" cy="4296271"/>
          </a:xfrm>
          <a:custGeom>
            <a:avLst/>
            <a:gdLst/>
            <a:ahLst/>
            <a:cxnLst/>
            <a:rect r="r" b="b" t="t" l="l"/>
            <a:pathLst>
              <a:path h="4296271" w="3062584">
                <a:moveTo>
                  <a:pt x="0" y="0"/>
                </a:moveTo>
                <a:lnTo>
                  <a:pt x="3062584" y="0"/>
                </a:lnTo>
                <a:lnTo>
                  <a:pt x="3062584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017598" y="4285339"/>
            <a:ext cx="1750048" cy="1934962"/>
          </a:xfrm>
          <a:custGeom>
            <a:avLst/>
            <a:gdLst/>
            <a:ahLst/>
            <a:cxnLst/>
            <a:rect r="r" b="b" t="t" l="l"/>
            <a:pathLst>
              <a:path h="1934962" w="1750048">
                <a:moveTo>
                  <a:pt x="0" y="0"/>
                </a:moveTo>
                <a:lnTo>
                  <a:pt x="1750048" y="0"/>
                </a:lnTo>
                <a:lnTo>
                  <a:pt x="175004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4773786" y="6449719"/>
            <a:ext cx="2227470" cy="1113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b="true" sz="2034" spc="-81">
                <a:solidFill>
                  <a:srgbClr val="41524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Track &amp; follow up</a:t>
            </a:r>
          </a:p>
          <a:p>
            <a:pPr algn="ctr">
              <a:lnSpc>
                <a:spcPts val="3052"/>
              </a:lnSpc>
            </a:pPr>
            <a:r>
              <a:rPr lang="en-US" b="true" sz="2034" spc="-81">
                <a:solidFill>
                  <a:srgbClr val="415246"/>
                </a:solidFill>
                <a:latin typeface="Inter Medium"/>
                <a:ea typeface="Inter Medium"/>
                <a:cs typeface="Inter Medium"/>
                <a:sym typeface="Inter Medium"/>
              </a:rPr>
              <a:t>stay on top of what matters</a:t>
            </a:r>
          </a:p>
        </p:txBody>
      </p:sp>
      <p:sp>
        <p:nvSpPr>
          <p:cNvPr name="TextBox 25" id="25"/>
          <p:cNvSpPr txBox="true"/>
          <p:nvPr/>
        </p:nvSpPr>
        <p:spPr>
          <a:xfrm rot="-5400000">
            <a:off x="-1876340" y="5199489"/>
            <a:ext cx="6128468" cy="31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b="true" sz="1740" spc="86">
                <a:solidFill>
                  <a:srgbClr val="A7B492"/>
                </a:solidFill>
                <a:latin typeface="Inter Medium"/>
                <a:ea typeface="Inter Medium"/>
                <a:cs typeface="Inter Medium"/>
                <a:sym typeface="Inter Medium"/>
              </a:rPr>
              <a:t>AI-POWERED CAMPUS PRODUCTIVITY ASSISTANT</a:t>
            </a:r>
          </a:p>
        </p:txBody>
      </p:sp>
      <p:sp>
        <p:nvSpPr>
          <p:cNvPr name="TextBox 26" id="26"/>
          <p:cNvSpPr txBox="true"/>
          <p:nvPr/>
        </p:nvSpPr>
        <p:spPr>
          <a:xfrm rot="-5400000">
            <a:off x="-973352" y="6601778"/>
            <a:ext cx="3031805" cy="66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0"/>
              </a:lnSpc>
            </a:pPr>
            <a:r>
              <a:rPr lang="en-US" sz="3713" b="true">
                <a:solidFill>
                  <a:srgbClr val="F5F4F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CampusLens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750048" cy="10287000"/>
          </a:xfrm>
          <a:custGeom>
            <a:avLst/>
            <a:gdLst/>
            <a:ahLst/>
            <a:cxnLst/>
            <a:rect r="r" b="b" t="t" l="l"/>
            <a:pathLst>
              <a:path h="10287000" w="1750048">
                <a:moveTo>
                  <a:pt x="0" y="0"/>
                </a:moveTo>
                <a:lnTo>
                  <a:pt x="1750048" y="0"/>
                </a:lnTo>
                <a:lnTo>
                  <a:pt x="175004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80620" y="1255752"/>
            <a:ext cx="6434087" cy="206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43"/>
              </a:lnSpc>
            </a:pPr>
            <a:r>
              <a:rPr lang="en-US" sz="7661" spc="-153" b="true">
                <a:solidFill>
                  <a:srgbClr val="244232"/>
                </a:solidFill>
                <a:latin typeface="Inter Bold"/>
                <a:ea typeface="Inter Bold"/>
                <a:cs typeface="Inter Bold"/>
                <a:sym typeface="Inter Bold"/>
              </a:rPr>
              <a:t>Your campus, made </a:t>
            </a:r>
            <a:r>
              <a:rPr lang="en-US" sz="7661" spc="-153" b="true">
                <a:solidFill>
                  <a:srgbClr val="9EB68C"/>
                </a:solidFill>
                <a:latin typeface="Inter Bold"/>
                <a:ea typeface="Inter Bold"/>
                <a:cs typeface="Inter Bold"/>
                <a:sym typeface="Inter Bold"/>
              </a:rPr>
              <a:t>clear</a:t>
            </a:r>
            <a:r>
              <a:rPr lang="en-US" sz="7661" spc="-153" b="true">
                <a:solidFill>
                  <a:srgbClr val="244232"/>
                </a:solidFill>
                <a:latin typeface="Inter Bold"/>
                <a:ea typeface="Inter Bold"/>
                <a:cs typeface="Inter Bold"/>
                <a:sym typeface="Inter Bold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84840" y="3740453"/>
            <a:ext cx="6012066" cy="884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575" spc="-51">
                <a:solidFill>
                  <a:srgbClr val="244232"/>
                </a:solidFill>
                <a:latin typeface="Inter"/>
                <a:ea typeface="Inter"/>
                <a:cs typeface="Inter"/>
                <a:sym typeface="Inter"/>
              </a:rPr>
              <a:t>CampusLens turns campus information</a:t>
            </a:r>
          </a:p>
          <a:p>
            <a:pPr algn="l">
              <a:lnSpc>
                <a:spcPts val="3605"/>
              </a:lnSpc>
            </a:pPr>
            <a:r>
              <a:rPr lang="en-US" sz="2575" spc="-51">
                <a:solidFill>
                  <a:srgbClr val="244232"/>
                </a:solidFill>
                <a:latin typeface="Inter"/>
                <a:ea typeface="Inter"/>
                <a:cs typeface="Inter"/>
                <a:sym typeface="Inter"/>
              </a:rPr>
              <a:t>into </a:t>
            </a:r>
            <a:r>
              <a:rPr lang="en-US" sz="2575" spc="-51" b="true">
                <a:solidFill>
                  <a:srgbClr val="9EB68C"/>
                </a:solidFill>
                <a:latin typeface="Inter Bold"/>
                <a:ea typeface="Inter Bold"/>
                <a:cs typeface="Inter Bold"/>
                <a:sym typeface="Inter Bold"/>
              </a:rPr>
              <a:t>clear, manageable next steps.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384440" y="5138034"/>
            <a:ext cx="3281340" cy="3443576"/>
          </a:xfrm>
          <a:custGeom>
            <a:avLst/>
            <a:gdLst/>
            <a:ahLst/>
            <a:cxnLst/>
            <a:rect r="r" b="b" t="t" l="l"/>
            <a:pathLst>
              <a:path h="3443576" w="3281340">
                <a:moveTo>
                  <a:pt x="0" y="0"/>
                </a:moveTo>
                <a:lnTo>
                  <a:pt x="3281340" y="0"/>
                </a:lnTo>
                <a:lnTo>
                  <a:pt x="3281340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92824" y="5504408"/>
            <a:ext cx="2002743" cy="264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4"/>
              </a:lnSpc>
            </a:pPr>
            <a:r>
              <a:rPr lang="en-US" sz="1986" spc="-39" b="true">
                <a:solidFill>
                  <a:srgbClr val="244232"/>
                </a:solidFill>
                <a:latin typeface="Inter Bold"/>
                <a:ea typeface="Inter Bold"/>
                <a:cs typeface="Inter Bold"/>
                <a:sym typeface="Inter Bold"/>
              </a:rPr>
              <a:t>TEAM</a:t>
            </a:r>
          </a:p>
          <a:p>
            <a:pPr algn="l">
              <a:lnSpc>
                <a:spcPts val="3574"/>
              </a:lnSpc>
            </a:pPr>
            <a:r>
              <a:rPr lang="en-US" sz="1986" spc="-39">
                <a:solidFill>
                  <a:srgbClr val="244232"/>
                </a:solidFill>
                <a:latin typeface="Inter"/>
                <a:ea typeface="Inter"/>
                <a:cs typeface="Inter"/>
                <a:sym typeface="Inter"/>
              </a:rPr>
              <a:t>Saumitra Kumar</a:t>
            </a:r>
          </a:p>
          <a:p>
            <a:pPr algn="l">
              <a:lnSpc>
                <a:spcPts val="3574"/>
              </a:lnSpc>
            </a:pPr>
            <a:r>
              <a:rPr lang="en-US" sz="1986" spc="-39">
                <a:solidFill>
                  <a:srgbClr val="244232"/>
                </a:solidFill>
                <a:latin typeface="Inter"/>
                <a:ea typeface="Inter"/>
                <a:cs typeface="Inter"/>
                <a:sym typeface="Inter"/>
              </a:rPr>
              <a:t>Anirudh Bansal</a:t>
            </a:r>
          </a:p>
          <a:p>
            <a:pPr algn="l">
              <a:lnSpc>
                <a:spcPts val="3574"/>
              </a:lnSpc>
            </a:pPr>
            <a:r>
              <a:rPr lang="en-US" sz="1986" spc="-39">
                <a:solidFill>
                  <a:srgbClr val="244232"/>
                </a:solidFill>
                <a:latin typeface="Inter"/>
                <a:ea typeface="Inter"/>
                <a:cs typeface="Inter"/>
                <a:sym typeface="Inter"/>
              </a:rPr>
              <a:t>Parth Jambukiya</a:t>
            </a:r>
          </a:p>
          <a:p>
            <a:pPr algn="l">
              <a:lnSpc>
                <a:spcPts val="3574"/>
              </a:lnSpc>
            </a:pPr>
            <a:r>
              <a:rPr lang="en-US" sz="1986" spc="-39">
                <a:solidFill>
                  <a:srgbClr val="244232"/>
                </a:solidFill>
                <a:latin typeface="Inter"/>
                <a:ea typeface="Inter"/>
                <a:cs typeface="Inter"/>
                <a:sym typeface="Inter"/>
              </a:rPr>
              <a:t>Yug Patel</a:t>
            </a:r>
          </a:p>
          <a:p>
            <a:pPr algn="l">
              <a:lnSpc>
                <a:spcPts val="3574"/>
              </a:lnSpc>
            </a:pPr>
            <a:r>
              <a:rPr lang="en-US" sz="1986" spc="-39">
                <a:solidFill>
                  <a:srgbClr val="244232"/>
                </a:solidFill>
                <a:latin typeface="Inter"/>
                <a:ea typeface="Inter"/>
                <a:cs typeface="Inter"/>
                <a:sym typeface="Inter"/>
              </a:rPr>
              <a:t>Malank Gawai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873598" y="7280704"/>
            <a:ext cx="3062584" cy="1300906"/>
          </a:xfrm>
          <a:custGeom>
            <a:avLst/>
            <a:gdLst/>
            <a:ahLst/>
            <a:cxnLst/>
            <a:rect r="r" b="b" t="t" l="l"/>
            <a:pathLst>
              <a:path h="1300906" w="3062584">
                <a:moveTo>
                  <a:pt x="0" y="0"/>
                </a:moveTo>
                <a:lnTo>
                  <a:pt x="3062584" y="0"/>
                </a:lnTo>
                <a:lnTo>
                  <a:pt x="306258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409629" y="7732458"/>
            <a:ext cx="1974593" cy="422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7"/>
              </a:lnSpc>
            </a:pPr>
            <a:r>
              <a:rPr lang="en-US" sz="3102" spc="-62" b="true">
                <a:solidFill>
                  <a:srgbClr val="244232"/>
                </a:solidFill>
                <a:latin typeface="Inter Bold"/>
                <a:ea typeface="Inter Bold"/>
                <a:cs typeface="Inter Bold"/>
                <a:sym typeface="Inter Bold"/>
              </a:rPr>
              <a:t>Live Demo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69537" y="9221211"/>
            <a:ext cx="7542366" cy="286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spc="-35">
                <a:solidFill>
                  <a:srgbClr val="244232"/>
                </a:solidFill>
                <a:latin typeface="Inter"/>
                <a:ea typeface="Inter"/>
                <a:cs typeface="Inter"/>
                <a:sym typeface="Inter"/>
              </a:rPr>
              <a:t>Built with </a:t>
            </a:r>
            <a:r>
              <a:rPr lang="en-US" sz="1784" spc="-35" b="true">
                <a:solidFill>
                  <a:srgbClr val="244232"/>
                </a:solidFill>
                <a:latin typeface="Inter Bold"/>
                <a:ea typeface="Inter Bold"/>
                <a:cs typeface="Inter Bold"/>
                <a:sym typeface="Inter Bold"/>
              </a:rPr>
              <a:t>Gemma 4</a:t>
            </a:r>
            <a:r>
              <a:rPr lang="en-US" sz="1784" spc="-35">
                <a:solidFill>
                  <a:srgbClr val="244232"/>
                </a:solidFill>
                <a:latin typeface="Inter"/>
                <a:ea typeface="Inter"/>
                <a:cs typeface="Inter"/>
                <a:sym typeface="Inter"/>
              </a:rPr>
              <a:t> | OpenLake × MLH Build with Gemma 4 Hackathon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351818" y="852695"/>
            <a:ext cx="8936182" cy="9434305"/>
          </a:xfrm>
          <a:custGeom>
            <a:avLst/>
            <a:gdLst/>
            <a:ahLst/>
            <a:cxnLst/>
            <a:rect r="r" b="b" t="t" l="l"/>
            <a:pathLst>
              <a:path h="9434305" w="8936182">
                <a:moveTo>
                  <a:pt x="0" y="0"/>
                </a:moveTo>
                <a:lnTo>
                  <a:pt x="8936182" y="0"/>
                </a:lnTo>
                <a:lnTo>
                  <a:pt x="8936182" y="9434305"/>
                </a:lnTo>
                <a:lnTo>
                  <a:pt x="0" y="94343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26842" y="2142670"/>
            <a:ext cx="2187560" cy="863627"/>
          </a:xfrm>
          <a:custGeom>
            <a:avLst/>
            <a:gdLst/>
            <a:ahLst/>
            <a:cxnLst/>
            <a:rect r="r" b="b" t="t" l="l"/>
            <a:pathLst>
              <a:path h="863627" w="2187560">
                <a:moveTo>
                  <a:pt x="0" y="0"/>
                </a:moveTo>
                <a:lnTo>
                  <a:pt x="2187560" y="0"/>
                </a:lnTo>
                <a:lnTo>
                  <a:pt x="218756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840976" y="3848060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017598" y="4066699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369140">
            <a:off x="15025816" y="4770830"/>
            <a:ext cx="244336" cy="381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0"/>
              </a:lnSpc>
            </a:pPr>
            <a:r>
              <a:rPr lang="en-US" sz="2781" spc="-55" b="true">
                <a:solidFill>
                  <a:srgbClr val="616D6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3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7194220" y="4285339"/>
            <a:ext cx="448450" cy="644987"/>
          </a:xfrm>
          <a:custGeom>
            <a:avLst/>
            <a:gdLst/>
            <a:ahLst/>
            <a:cxnLst/>
            <a:rect r="r" b="b" t="t" l="l"/>
            <a:pathLst>
              <a:path h="644987" w="448450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369140">
            <a:off x="17222519" y="5026864"/>
            <a:ext cx="244336" cy="381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0"/>
              </a:lnSpc>
            </a:pPr>
            <a:r>
              <a:rPr lang="en-US" sz="2781" spc="-55" b="true">
                <a:solidFill>
                  <a:srgbClr val="616D6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369140">
            <a:off x="12628623" y="6296966"/>
            <a:ext cx="1433005" cy="21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0"/>
              </a:lnSpc>
            </a:pPr>
            <a:r>
              <a:rPr lang="en-US" sz="1696" spc="-33" b="true">
                <a:solidFill>
                  <a:srgbClr val="616D6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Latest notices</a:t>
            </a:r>
          </a:p>
        </p:txBody>
      </p:sp>
      <p:sp>
        <p:nvSpPr>
          <p:cNvPr name="TextBox 19" id="19"/>
          <p:cNvSpPr txBox="true"/>
          <p:nvPr/>
        </p:nvSpPr>
        <p:spPr>
          <a:xfrm rot="369140">
            <a:off x="12613078" y="7885989"/>
            <a:ext cx="788724" cy="255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265" spc="-25">
                <a:solidFill>
                  <a:srgbClr val="616D63"/>
                </a:solidFill>
                <a:latin typeface="Inter Light"/>
                <a:ea typeface="Inter Light"/>
                <a:cs typeface="Inter Light"/>
                <a:sym typeface="Inter Light"/>
              </a:rPr>
              <a:t>Yesterday</a:t>
            </a:r>
          </a:p>
        </p:txBody>
      </p:sp>
      <p:sp>
        <p:nvSpPr>
          <p:cNvPr name="TextBox 20" id="20"/>
          <p:cNvSpPr txBox="true"/>
          <p:nvPr/>
        </p:nvSpPr>
        <p:spPr>
          <a:xfrm rot="369140">
            <a:off x="12613078" y="8744457"/>
            <a:ext cx="788724" cy="255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265" spc="-25">
                <a:solidFill>
                  <a:srgbClr val="616D63"/>
                </a:solidFill>
                <a:latin typeface="Inter Light"/>
                <a:ea typeface="Inter Light"/>
                <a:cs typeface="Inter Light"/>
                <a:sym typeface="Inter Light"/>
              </a:rPr>
              <a:t>Yesterday</a:t>
            </a:r>
          </a:p>
        </p:txBody>
      </p:sp>
      <p:sp>
        <p:nvSpPr>
          <p:cNvPr name="TextBox 21" id="21"/>
          <p:cNvSpPr txBox="true"/>
          <p:nvPr/>
        </p:nvSpPr>
        <p:spPr>
          <a:xfrm rot="-5400000">
            <a:off x="-1947538" y="5199194"/>
            <a:ext cx="6298481" cy="286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7"/>
              </a:lnSpc>
            </a:pPr>
            <a:r>
              <a:rPr lang="en-US" sz="1784" spc="88">
                <a:solidFill>
                  <a:srgbClr val="9EB68C"/>
                </a:solidFill>
                <a:latin typeface="Inter"/>
                <a:ea typeface="Inter"/>
                <a:cs typeface="Inter"/>
                <a:sym typeface="Inter"/>
              </a:rPr>
              <a:t>AI-POWERED CAMPUS PRODUCTIVITY ASSISTANT</a:t>
            </a:r>
          </a:p>
        </p:txBody>
      </p:sp>
      <p:sp>
        <p:nvSpPr>
          <p:cNvPr name="TextBox 22" id="22"/>
          <p:cNvSpPr txBox="true"/>
          <p:nvPr/>
        </p:nvSpPr>
        <p:spPr>
          <a:xfrm rot="-5400000">
            <a:off x="-763670" y="6638610"/>
            <a:ext cx="2886918" cy="505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8"/>
              </a:lnSpc>
            </a:pPr>
            <a:r>
              <a:rPr lang="en-US" b="true" sz="3713" spc="-74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CampusLens</a:t>
            </a:r>
          </a:p>
        </p:txBody>
      </p:sp>
      <p:sp>
        <p:nvSpPr>
          <p:cNvPr name="TextBox 23" id="23"/>
          <p:cNvSpPr txBox="true"/>
          <p:nvPr/>
        </p:nvSpPr>
        <p:spPr>
          <a:xfrm rot="369140">
            <a:off x="12729356" y="3123572"/>
            <a:ext cx="2665528" cy="29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441" spc="-28">
                <a:solidFill>
                  <a:srgbClr val="616D63"/>
                </a:solidFill>
                <a:latin typeface="Inter Light"/>
                <a:ea typeface="Inter Light"/>
                <a:cs typeface="Inter Light"/>
                <a:sym typeface="Inter Light"/>
              </a:rPr>
              <a:t>Here's what's happening today</a:t>
            </a:r>
          </a:p>
        </p:txBody>
      </p:sp>
      <p:sp>
        <p:nvSpPr>
          <p:cNvPr name="TextBox 24" id="24"/>
          <p:cNvSpPr txBox="true"/>
          <p:nvPr/>
        </p:nvSpPr>
        <p:spPr>
          <a:xfrm rot="369140">
            <a:off x="12676201" y="6813478"/>
            <a:ext cx="2623236" cy="29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441" spc="-28">
                <a:solidFill>
                  <a:srgbClr val="616D63"/>
                </a:solidFill>
                <a:latin typeface="Inter"/>
                <a:ea typeface="Inter"/>
                <a:cs typeface="Inter"/>
                <a:sym typeface="Inter"/>
              </a:rPr>
              <a:t>Library maintenance schedule</a:t>
            </a:r>
          </a:p>
        </p:txBody>
      </p:sp>
      <p:sp>
        <p:nvSpPr>
          <p:cNvPr name="TextBox 25" id="25"/>
          <p:cNvSpPr txBox="true"/>
          <p:nvPr/>
        </p:nvSpPr>
        <p:spPr>
          <a:xfrm rot="369140">
            <a:off x="12749925" y="2755951"/>
            <a:ext cx="2732484" cy="32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6"/>
              </a:lnSpc>
            </a:pPr>
            <a:r>
              <a:rPr lang="en-US" sz="2387" spc="-47" b="true">
                <a:solidFill>
                  <a:srgbClr val="616D6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Good morning</a:t>
            </a:r>
          </a:p>
        </p:txBody>
      </p:sp>
      <p:sp>
        <p:nvSpPr>
          <p:cNvPr name="TextBox 26" id="26"/>
          <p:cNvSpPr txBox="true"/>
          <p:nvPr/>
        </p:nvSpPr>
        <p:spPr>
          <a:xfrm rot="369140">
            <a:off x="12600556" y="8485231"/>
            <a:ext cx="2151073" cy="29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441" spc="-28">
                <a:solidFill>
                  <a:srgbClr val="616D63"/>
                </a:solidFill>
                <a:latin typeface="Inter"/>
                <a:ea typeface="Inter"/>
                <a:cs typeface="Inter"/>
                <a:sym typeface="Inter"/>
              </a:rPr>
              <a:t>Exam timetable released</a:t>
            </a:r>
          </a:p>
        </p:txBody>
      </p:sp>
      <p:sp>
        <p:nvSpPr>
          <p:cNvPr name="TextBox 27" id="27"/>
          <p:cNvSpPr txBox="true"/>
          <p:nvPr/>
        </p:nvSpPr>
        <p:spPr>
          <a:xfrm rot="369140">
            <a:off x="16083518" y="7220121"/>
            <a:ext cx="2112621" cy="29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441" spc="-28">
                <a:solidFill>
                  <a:srgbClr val="616D63"/>
                </a:solidFill>
                <a:latin typeface="Inter"/>
                <a:ea typeface="Inter"/>
                <a:cs typeface="Inter"/>
                <a:sym typeface="Inter"/>
              </a:rPr>
              <a:t>Tech Talk: AI in Campus</a:t>
            </a:r>
          </a:p>
        </p:txBody>
      </p:sp>
      <p:sp>
        <p:nvSpPr>
          <p:cNvPr name="TextBox 28" id="28"/>
          <p:cNvSpPr txBox="true"/>
          <p:nvPr/>
        </p:nvSpPr>
        <p:spPr>
          <a:xfrm rot="369140">
            <a:off x="12654947" y="7656885"/>
            <a:ext cx="2069734" cy="29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441" spc="-28">
                <a:solidFill>
                  <a:srgbClr val="616D63"/>
                </a:solidFill>
                <a:latin typeface="Inter"/>
                <a:ea typeface="Inter"/>
                <a:cs typeface="Inter"/>
                <a:sym typeface="Inter"/>
              </a:rPr>
              <a:t>Internship fair this week</a:t>
            </a:r>
          </a:p>
        </p:txBody>
      </p:sp>
      <p:sp>
        <p:nvSpPr>
          <p:cNvPr name="TextBox 29" id="29"/>
          <p:cNvSpPr txBox="true"/>
          <p:nvPr/>
        </p:nvSpPr>
        <p:spPr>
          <a:xfrm rot="369140">
            <a:off x="16001835" y="6669972"/>
            <a:ext cx="1760586" cy="236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4"/>
              </a:lnSpc>
            </a:pPr>
            <a:r>
              <a:rPr lang="en-US" sz="1652" spc="-33" b="true">
                <a:solidFill>
                  <a:srgbClr val="616D6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Upcoming events</a:t>
            </a:r>
          </a:p>
        </p:txBody>
      </p:sp>
      <p:sp>
        <p:nvSpPr>
          <p:cNvPr name="TextBox 30" id="30"/>
          <p:cNvSpPr txBox="true"/>
          <p:nvPr/>
        </p:nvSpPr>
        <p:spPr>
          <a:xfrm rot="369140">
            <a:off x="16030387" y="8250817"/>
            <a:ext cx="1578405" cy="196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3"/>
              </a:lnSpc>
            </a:pPr>
            <a:r>
              <a:rPr lang="en-US" sz="1441" spc="-28" b="true">
                <a:solidFill>
                  <a:srgbClr val="616D6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Hackathon Kickoff</a:t>
            </a:r>
          </a:p>
        </p:txBody>
      </p:sp>
      <p:sp>
        <p:nvSpPr>
          <p:cNvPr name="TextBox 31" id="31"/>
          <p:cNvSpPr txBox="true"/>
          <p:nvPr/>
        </p:nvSpPr>
        <p:spPr>
          <a:xfrm rot="369140">
            <a:off x="10459230" y="1483247"/>
            <a:ext cx="1433911" cy="247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sz="1810" spc="-36" b="true">
                <a:solidFill>
                  <a:srgbClr val="616D6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CampusLens</a:t>
            </a:r>
          </a:p>
        </p:txBody>
      </p:sp>
      <p:sp>
        <p:nvSpPr>
          <p:cNvPr name="TextBox 32" id="32"/>
          <p:cNvSpPr txBox="true"/>
          <p:nvPr/>
        </p:nvSpPr>
        <p:spPr>
          <a:xfrm rot="369140">
            <a:off x="16060820" y="7554651"/>
            <a:ext cx="1593447" cy="255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265" spc="-25">
                <a:solidFill>
                  <a:srgbClr val="616D63"/>
                </a:solidFill>
                <a:latin typeface="Inter Light"/>
                <a:ea typeface="Inter Light"/>
                <a:cs typeface="Inter Light"/>
                <a:sym typeface="Inter Light"/>
              </a:rPr>
              <a:t> Tomorrow, 2:00 PM</a:t>
            </a:r>
          </a:p>
        </p:txBody>
      </p:sp>
      <p:sp>
        <p:nvSpPr>
          <p:cNvPr name="TextBox 33" id="33"/>
          <p:cNvSpPr txBox="true"/>
          <p:nvPr/>
        </p:nvSpPr>
        <p:spPr>
          <a:xfrm rot="369140">
            <a:off x="10306105" y="4433865"/>
            <a:ext cx="1210241" cy="29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441" spc="-28">
                <a:solidFill>
                  <a:srgbClr val="616D63"/>
                </a:solidFill>
                <a:latin typeface="Inter"/>
                <a:ea typeface="Inter"/>
                <a:cs typeface="Inter"/>
                <a:sym typeface="Inter"/>
              </a:rPr>
              <a:t>🔄 Resources</a:t>
            </a:r>
          </a:p>
        </p:txBody>
      </p:sp>
      <p:sp>
        <p:nvSpPr>
          <p:cNvPr name="TextBox 34" id="34"/>
          <p:cNvSpPr txBox="true"/>
          <p:nvPr/>
        </p:nvSpPr>
        <p:spPr>
          <a:xfrm rot="369140">
            <a:off x="12796544" y="4945934"/>
            <a:ext cx="1304601" cy="29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441" spc="-28" b="true">
                <a:solidFill>
                  <a:srgbClr val="B8A67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Unread notices</a:t>
            </a:r>
          </a:p>
        </p:txBody>
      </p:sp>
      <p:sp>
        <p:nvSpPr>
          <p:cNvPr name="TextBox 35" id="35"/>
          <p:cNvSpPr txBox="true"/>
          <p:nvPr/>
        </p:nvSpPr>
        <p:spPr>
          <a:xfrm rot="369140">
            <a:off x="16012191" y="8473362"/>
            <a:ext cx="1098534" cy="255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265" spc="-25">
                <a:solidFill>
                  <a:srgbClr val="616D63"/>
                </a:solidFill>
                <a:latin typeface="Inter Light"/>
                <a:ea typeface="Inter Light"/>
                <a:cs typeface="Inter Light"/>
                <a:sym typeface="Inter Light"/>
              </a:rPr>
              <a:t>Sat, 10:00 AM</a:t>
            </a:r>
          </a:p>
        </p:txBody>
      </p:sp>
      <p:sp>
        <p:nvSpPr>
          <p:cNvPr name="TextBox 36" id="36"/>
          <p:cNvSpPr txBox="true"/>
          <p:nvPr/>
        </p:nvSpPr>
        <p:spPr>
          <a:xfrm rot="369140">
            <a:off x="10414362" y="2310287"/>
            <a:ext cx="1100082" cy="29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441" spc="-28">
                <a:solidFill>
                  <a:srgbClr val="616D63"/>
                </a:solidFill>
                <a:latin typeface="Inter"/>
                <a:ea typeface="Inter"/>
                <a:cs typeface="Inter"/>
                <a:sym typeface="Inter"/>
              </a:rPr>
              <a:t>🔄 Overview</a:t>
            </a:r>
          </a:p>
        </p:txBody>
      </p:sp>
      <p:sp>
        <p:nvSpPr>
          <p:cNvPr name="TextBox 37" id="37"/>
          <p:cNvSpPr txBox="true"/>
          <p:nvPr/>
        </p:nvSpPr>
        <p:spPr>
          <a:xfrm rot="369140">
            <a:off x="10361815" y="2837416"/>
            <a:ext cx="997029" cy="29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441" spc="-28">
                <a:solidFill>
                  <a:srgbClr val="616D63"/>
                </a:solidFill>
                <a:latin typeface="Inter"/>
                <a:ea typeface="Inter"/>
                <a:cs typeface="Inter"/>
                <a:sym typeface="Inter"/>
              </a:rPr>
              <a:t>🔄  N</a:t>
            </a:r>
            <a:r>
              <a:rPr lang="en-US" sz="1441" spc="-28" b="true">
                <a:solidFill>
                  <a:srgbClr val="616D6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otices</a:t>
            </a:r>
          </a:p>
        </p:txBody>
      </p:sp>
      <p:sp>
        <p:nvSpPr>
          <p:cNvPr name="TextBox 38" id="38"/>
          <p:cNvSpPr txBox="true"/>
          <p:nvPr/>
        </p:nvSpPr>
        <p:spPr>
          <a:xfrm rot="369140">
            <a:off x="10282130" y="3891675"/>
            <a:ext cx="928783" cy="29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441" spc="-28">
                <a:solidFill>
                  <a:srgbClr val="616D63"/>
                </a:solidFill>
                <a:latin typeface="Inter"/>
                <a:ea typeface="Inter"/>
                <a:cs typeface="Inter"/>
                <a:sym typeface="Inter"/>
              </a:rPr>
              <a:t>🔄  Events</a:t>
            </a:r>
          </a:p>
        </p:txBody>
      </p:sp>
      <p:sp>
        <p:nvSpPr>
          <p:cNvPr name="TextBox 39" id="39"/>
          <p:cNvSpPr txBox="true"/>
          <p:nvPr/>
        </p:nvSpPr>
        <p:spPr>
          <a:xfrm rot="369140">
            <a:off x="10229367" y="3349485"/>
            <a:ext cx="847270" cy="29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441" spc="-28">
                <a:solidFill>
                  <a:srgbClr val="616D63"/>
                </a:solidFill>
                <a:latin typeface="Inter"/>
                <a:ea typeface="Inter"/>
                <a:cs typeface="Inter"/>
                <a:sym typeface="Inter"/>
              </a:rPr>
              <a:t>🔄  Tasks</a:t>
            </a:r>
          </a:p>
        </p:txBody>
      </p:sp>
      <p:sp>
        <p:nvSpPr>
          <p:cNvPr name="TextBox 40" id="40"/>
          <p:cNvSpPr txBox="true"/>
          <p:nvPr/>
        </p:nvSpPr>
        <p:spPr>
          <a:xfrm rot="369140">
            <a:off x="14997361" y="5156786"/>
            <a:ext cx="893192" cy="29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441" spc="-28">
                <a:solidFill>
                  <a:srgbClr val="616D63"/>
                </a:solidFill>
                <a:latin typeface="Inter"/>
                <a:ea typeface="Inter"/>
                <a:cs typeface="Inter"/>
                <a:sym typeface="Inter"/>
              </a:rPr>
              <a:t>Tasks due</a:t>
            </a:r>
          </a:p>
        </p:txBody>
      </p:sp>
      <p:sp>
        <p:nvSpPr>
          <p:cNvPr name="TextBox 41" id="41"/>
          <p:cNvSpPr txBox="true"/>
          <p:nvPr/>
        </p:nvSpPr>
        <p:spPr>
          <a:xfrm rot="369140">
            <a:off x="17170236" y="5397759"/>
            <a:ext cx="597127" cy="29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441" spc="-28">
                <a:solidFill>
                  <a:srgbClr val="616D63"/>
                </a:solidFill>
                <a:latin typeface="Inter"/>
                <a:ea typeface="Inter"/>
                <a:cs typeface="Inter"/>
                <a:sym typeface="Inter"/>
              </a:rPr>
              <a:t>Events</a:t>
            </a:r>
          </a:p>
        </p:txBody>
      </p:sp>
      <p:sp>
        <p:nvSpPr>
          <p:cNvPr name="TextBox 42" id="42"/>
          <p:cNvSpPr txBox="true"/>
          <p:nvPr/>
        </p:nvSpPr>
        <p:spPr>
          <a:xfrm rot="369140">
            <a:off x="12855902" y="4544918"/>
            <a:ext cx="244336" cy="381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0"/>
              </a:lnSpc>
            </a:pPr>
            <a:r>
              <a:rPr lang="en-US" sz="2781" spc="-55" b="true">
                <a:solidFill>
                  <a:srgbClr val="616D6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DAHXmx2CSHg</dc:identifier>
  <dcterms:modified xsi:type="dcterms:W3CDTF">2011-08-01T06:04:30Z</dcterms:modified>
  <cp:revision>1</cp:revision>
  <dc:title>Your paragraph text</dc:title>
</cp:coreProperties>
</file>